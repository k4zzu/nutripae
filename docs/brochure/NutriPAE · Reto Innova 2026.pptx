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Nunito" pitchFamily="34" charset="0"/>
      <p:regular r:id="rId20"/>
      <p:bold r:id="rId21"/>
    </p:embeddedFont>
    <p:embeddedFont>
      <p:font typeface="Fredoka" pitchFamily="34"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NutriPAE. Hoy les vamos a mostrar un momento muy concreto: el instante en que a un niño del PAE le entregan su bandeja y se va a sentar a comer. Ahí es donde pasa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después de la primera frase. Es el momento que todos conocemos del comedor escolar: la fila, la bandeja, la mesa. Nadie mira el plato. NutriPAE pone una cámara y una pantalla justo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cerca de 32.000 estudiantes en 167 sedes. El control hoy son visitas puntuales y planillas. Nadie sabe, bandeja por bandeja, si llegó completa y en buen estado. Y el niño no recibe ninguna explicación en el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importa: la ración es la comida principal para muchos; sin ella no hay aprendizaje. Y el momento del plato es la mejor clase de nutrición que puede existir, si alguien la da. Además es plata pública que hoy se decide sin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funciona en el comedor. Sin instalar nada: es una página web. La docente usa su celular o un computador con webcam. El niño ve color, ícono, su nombre y una razón. Si está en rojo, le completan el plato ahí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capas en una misma pantalla: arriba el niño, abajo la docente. Con el consentimiento de la familia cada verificación queda a nombre del niño. La nutricionista ve el resumen por sede y entrega el PDF a los padres cuando lo piden.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pasos. Hoy la segmentación es general con FastSAM y la identificación la hace una IA de visión. Con las fotos del piloto entrenamos un modelo propio que corre en la estación sin internet. Decimos los límites de frente: los gramos son una estimación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punto lo decimos de frente: sí guardamos datos de menores. Consentimiento informado antes de registrar a un niño; el QR solo lleva un código; la cámara solo mira la bandeja; las fotos se borran al cerrar el año; y cada veredicto se explica.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pasamos a la demo en vivo. Si hay problemas de conexión, usamos la práctica sin cámara, que simula un plato y no guarda nada. Volvemos a la presentación al terminar.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impacto empieza el primer día: ninguna ración incompleta pasa sin que alguien lo sepa. Las experiencias de Corea muestran entre 13 y 60 por ciento menos desperdicio. Y los datos permiten rediseñar las minutas con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es pequeño porque no hay hardware especial: un computador con una webcam Logitech C920 por estación, un servidor de 12 dólares al mes y una base de datos dedicada de 15. El rubro más grande son las tarjetas QR en PVC. Y el modelo es escalable: una sede nueva cuesta una estación.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 meses en cinco bloques. Lo primero son los acuerdos y los consentimientos. En el mes 3 ya hay niños pasando por la estación. Con esas fotos entrenamos el modelo propio y lo llevamos a la estación sin internet. Al final del año, veinte sedes.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idea de fondo: hoy el PAE depende de la buena fe. Con NutriPAE, cada plato deja un dato y cada niño recibe una explicación.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0321"/>
            <a:ext cx="10160000" cy="949960"/>
          </a:xfrm>
          <a:prstGeom prst="rect">
            <a:avLst/>
          </a:prstGeom>
          <a:noFill/>
          <a:ln/>
        </p:spPr>
        <p:txBody>
          <a:bodyPr wrap="square" lIns="0" tIns="0" rIns="0" bIns="0" rtlCol="0" anchor="t"/>
          <a:lstStyle>
            <a:lvl1pPr algn="l" indent="0" marL="0">
              <a:lnSpc>
                <a:spcPct val="115000"/>
              </a:lnSpc>
              <a:buNone/>
              <a:defRPr lang="en-US" sz="3532" dirty="0">
                <a:solidFill>
                  <a:srgbClr val="1F1A3D"/>
                </a:solidFill>
                <a:latin typeface="Fredoka" pitchFamily="34" charset="0"/>
                <a:ea typeface="Fredoka" pitchFamily="34" charset="-122"/>
                <a:cs typeface="Fredoka" pitchFamily="34" charset="-120"/>
              </a:defRPr>
            </a:lvl1pPr>
          </a:lstStyle>
          <a:p>
            <a:pPr algn="l" indent="0" marL="0">
              <a:lnSpc>
                <a:spcPct val="115000"/>
              </a:lnSpc>
              <a:buNone/>
            </a:pPr>
            <a:endParaRPr lang="en-US" sz="3532" dirty="0"/>
          </a:p>
        </p:txBody>
      </p:sp>
      <p:sp>
        <p:nvSpPr>
          <p:cNvPr id="3" name="Text Placeholder 2"/>
          <p:cNvSpPr/>
          <p:nvPr>
            <p:ph idx="101" type="body"/>
          </p:nvPr>
        </p:nvSpPr>
        <p:spPr>
          <a:xfrm>
            <a:off x="812800" y="2545081"/>
            <a:ext cx="10566400" cy="3500119"/>
          </a:xfrm>
          <a:prstGeom prst="rect">
            <a:avLst/>
          </a:prstGeom>
          <a:noFill/>
          <a:ln/>
        </p:spPr>
        <p:txBody>
          <a:bodyPr wrap="square" lIns="0" tIns="0" rIns="0" bIns="0" rtlCol="0" anchor="t"/>
          <a:lstStyle>
            <a:lvl1pPr algn="l" indent="0" marL="0">
              <a:lnSpc>
                <a:spcPct val="140000"/>
              </a:lnSpc>
              <a:buNone/>
              <a:defRPr lang="en-US" sz="1600" dirty="0">
                <a:solidFill>
                  <a:srgbClr val="1F1A3D"/>
                </a:solidFill>
                <a:latin typeface="Nunito" pitchFamily="34" charset="0"/>
                <a:ea typeface="Nunito" pitchFamily="34" charset="-122"/>
                <a:cs typeface="Nun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0321"/>
            <a:ext cx="10160000" cy="949960"/>
          </a:xfrm>
          <a:prstGeom prst="rect">
            <a:avLst/>
          </a:prstGeom>
          <a:noFill/>
          <a:ln/>
        </p:spPr>
        <p:txBody>
          <a:bodyPr wrap="square" lIns="0" tIns="0" rIns="0" bIns="0" rtlCol="0" anchor="t"/>
          <a:lstStyle>
            <a:lvl1pPr algn="l" indent="0" marL="0">
              <a:lnSpc>
                <a:spcPct val="115000"/>
              </a:lnSpc>
              <a:buNone/>
              <a:defRPr lang="en-US" sz="3532" dirty="0">
                <a:solidFill>
                  <a:srgbClr val="1F1A3D"/>
                </a:solidFill>
                <a:latin typeface="Fredoka" pitchFamily="34" charset="0"/>
                <a:ea typeface="Fredoka" pitchFamily="34" charset="-122"/>
                <a:cs typeface="Fredoka" pitchFamily="34" charset="-120"/>
              </a:defRPr>
            </a:lvl1pPr>
          </a:lstStyle>
          <a:p>
            <a:pPr algn="l" indent="0" marL="0">
              <a:lnSpc>
                <a:spcPct val="115000"/>
              </a:lnSpc>
              <a:buNone/>
            </a:pPr>
            <a:endParaRPr lang="en-US" sz="3532" dirty="0"/>
          </a:p>
        </p:txBody>
      </p:sp>
      <p:sp>
        <p:nvSpPr>
          <p:cNvPr id="3" name="Text Placeholder 2"/>
          <p:cNvSpPr/>
          <p:nvPr>
            <p:ph idx="101" type="body"/>
          </p:nvPr>
        </p:nvSpPr>
        <p:spPr>
          <a:xfrm>
            <a:off x="812800" y="2545081"/>
            <a:ext cx="10566400" cy="3500119"/>
          </a:xfrm>
          <a:prstGeom prst="rect">
            <a:avLst/>
          </a:prstGeom>
          <a:noFill/>
          <a:ln/>
        </p:spPr>
        <p:txBody>
          <a:bodyPr wrap="square" lIns="0" tIns="0" rIns="0" bIns="0" rtlCol="0" anchor="t"/>
          <a:lstStyle>
            <a:lvl1pPr algn="l" indent="0" marL="0">
              <a:lnSpc>
                <a:spcPct val="140000"/>
              </a:lnSpc>
              <a:buNone/>
              <a:defRPr lang="en-US" sz="1600" dirty="0">
                <a:solidFill>
                  <a:srgbClr val="1F1A3D"/>
                </a:solidFill>
                <a:latin typeface="Nunito" pitchFamily="34" charset="0"/>
                <a:ea typeface="Nunito" pitchFamily="34" charset="-122"/>
                <a:cs typeface="Nun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763000" y="0"/>
            <a:ext cx="3937000" cy="3937000"/>
          </a:xfrm>
          <a:prstGeom prst="rect">
            <a:avLst/>
          </a:prstGeom>
        </p:spPr>
      </p:pic>
      <p:pic>
        <p:nvPicPr>
          <p:cNvPr id="3" name="Image 1" descr="ellipse">    </p:cNvPr>
          <p:cNvPicPr>
            <a:picLocks noChangeAspect="1"/>
          </p:cNvPicPr>
          <p:nvPr/>
        </p:nvPicPr>
        <p:blipFill>
          <a:blip r:embed="rId2"/>
          <a:srcRect l="0" r="0" t="0" b="0"/>
          <a:stretch/>
        </p:blipFill>
        <p:spPr>
          <a:xfrm>
            <a:off x="0" y="4572000"/>
            <a:ext cx="3556000" cy="3556000"/>
          </a:xfrm>
          <a:prstGeom prst="rect">
            <a:avLst/>
          </a:prstGeom>
        </p:spPr>
      </p:pic>
      <p:pic>
        <p:nvPicPr>
          <p:cNvPr id="4" name="Image 2" descr="NutriPAE">    </p:cNvPr>
          <p:cNvPicPr>
            <a:picLocks noChangeAspect="1"/>
          </p:cNvPicPr>
          <p:nvPr/>
        </p:nvPicPr>
        <p:blipFill>
          <a:blip r:embed="rId3"/>
          <a:srcRect l="0" r="0" t="-302" b="-302"/>
          <a:stretch/>
        </p:blipFill>
        <p:spPr>
          <a:xfrm>
            <a:off x="812800" y="812800"/>
            <a:ext cx="3556000" cy="1270000"/>
          </a:xfrm>
          <a:prstGeom prst="rect">
            <a:avLst/>
          </a:prstGeom>
        </p:spPr>
      </p:pic>
      <p:sp>
        <p:nvSpPr>
          <p:cNvPr id="5" name="Text 0"/>
          <p:cNvSpPr/>
          <p:nvPr>
            <p:ph type="title"/>
          </p:nvPr>
        </p:nvSpPr>
        <p:spPr>
          <a:xfrm>
            <a:off x="812800" y="2697480"/>
            <a:ext cx="8502650"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4C17C1"/>
                </a:solidFill>
                <a:latin typeface="Fredoka" pitchFamily="34" charset="0"/>
                <a:ea typeface="Fredoka" pitchFamily="34" charset="-122"/>
                <a:cs typeface="Fredoka" pitchFamily="34" charset="-120"/>
              </a:rPr>
              <a:t>El plato balanceado, explicado a cada niño</a:t>
            </a:r>
            <a:endParaRPr lang="en-US" sz="5600" dirty="0"/>
          </a:p>
        </p:txBody>
      </p:sp>
      <p:sp>
        <p:nvSpPr>
          <p:cNvPr id="6" name="Text 1"/>
          <p:cNvSpPr/>
          <p:nvPr/>
        </p:nvSpPr>
        <p:spPr>
          <a:xfrm>
            <a:off x="812800" y="4343400"/>
            <a:ext cx="850265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5A557A"/>
                </a:solidFill>
                <a:latin typeface="Nunito" pitchFamily="34" charset="0"/>
                <a:ea typeface="Nunito" pitchFamily="34" charset="-122"/>
                <a:cs typeface="Nunito" pitchFamily="34" charset="-120"/>
              </a:rPr>
              <a:t>Inteligencia artificial para el Programa de Alimentación Escolar de Neiva</a:t>
            </a:r>
            <a:endParaRPr lang="en-US" sz="2000" dirty="0"/>
          </a:p>
        </p:txBody>
      </p:sp>
      <p:sp>
        <p:nvSpPr>
          <p:cNvPr id="7" name="Text 2"/>
          <p:cNvSpPr/>
          <p:nvPr/>
        </p:nvSpPr>
        <p:spPr>
          <a:xfrm>
            <a:off x="812800" y="5618480"/>
            <a:ext cx="1885738" cy="426720"/>
          </a:xfrm>
          <a:prstGeom prst="roundRect">
            <a:avLst>
              <a:gd name="adj" fmla="val 50000"/>
            </a:avLst>
          </a:prstGeom>
          <a:solidFill>
            <a:srgbClr val="4C17C1"/>
          </a:solidFill>
          <a:ln/>
        </p:spPr>
        <p:txBody>
          <a:bodyPr wrap="none" lIns="0" tIns="0" rIns="0" bIns="0" rtlCol="0" anchor="ctr">
            <a:normAutofit/>
          </a:bodyPr>
          <a:lstStyle/>
          <a:p>
            <a:pPr algn="ctr" indent="0" marL="0">
              <a:lnSpc>
                <a:spcPts val="1960"/>
              </a:lnSpc>
              <a:buNone/>
            </a:pPr>
            <a:r>
              <a:rPr lang="en-US" sz="1400" b="1" dirty="0">
                <a:solidFill>
                  <a:srgbClr val="FBFAFF"/>
                </a:solidFill>
                <a:latin typeface="Nunito" pitchFamily="34" charset="0"/>
                <a:ea typeface="Nunito" pitchFamily="34" charset="-122"/>
                <a:cs typeface="Nunito" pitchFamily="34" charset="-120"/>
              </a:rPr>
              <a:t>Reto Innova 2026</a:t>
            </a:r>
            <a:endParaRPr lang="en-US" sz="1400" dirty="0"/>
          </a:p>
        </p:txBody>
      </p:sp>
      <p:sp>
        <p:nvSpPr>
          <p:cNvPr id="8" name="Text 3"/>
          <p:cNvSpPr/>
          <p:nvPr/>
        </p:nvSpPr>
        <p:spPr>
          <a:xfrm>
            <a:off x="2850938" y="5707380"/>
            <a:ext cx="125298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557A"/>
                </a:solidFill>
                <a:latin typeface="Nunito" pitchFamily="34" charset="0"/>
                <a:ea typeface="Nunito" pitchFamily="34" charset="-122"/>
                <a:cs typeface="Nunito" pitchFamily="34" charset="-120"/>
              </a:rPr>
              <a:t>Neiva, Huila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C17C1"/>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525000" y="4826000"/>
            <a:ext cx="2667000" cy="2667000"/>
          </a:xfrm>
          <a:prstGeom prst="rect">
            <a:avLst/>
          </a:prstGeom>
        </p:spPr>
      </p:pic>
      <p:sp>
        <p:nvSpPr>
          <p:cNvPr id="3" name="Text 0"/>
          <p:cNvSpPr/>
          <p:nvPr/>
        </p:nvSpPr>
        <p:spPr>
          <a:xfrm>
            <a:off x="812800" y="144854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AC344"/>
                </a:solidFill>
                <a:latin typeface="Nunito" pitchFamily="34" charset="0"/>
                <a:ea typeface="Nunito" pitchFamily="34" charset="-122"/>
                <a:cs typeface="Nunito" pitchFamily="34" charset="-120"/>
              </a:rPr>
              <a:t>ABRIDOR</a:t>
            </a:r>
            <a:endParaRPr lang="en-US" sz="1600" dirty="0"/>
          </a:p>
        </p:txBody>
      </p:sp>
      <p:sp>
        <p:nvSpPr>
          <p:cNvPr id="4" name="Text 1"/>
          <p:cNvSpPr/>
          <p:nvPr>
            <p:ph type="title"/>
          </p:nvPr>
        </p:nvSpPr>
        <p:spPr>
          <a:xfrm>
            <a:off x="812800" y="1987021"/>
            <a:ext cx="9810750" cy="2165033"/>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BFAFF"/>
                </a:solidFill>
                <a:latin typeface="Fredoka" pitchFamily="34" charset="0"/>
                <a:ea typeface="Fredoka" pitchFamily="34" charset="-122"/>
                <a:cs typeface="Fredoka" pitchFamily="34" charset="-120"/>
              </a:rPr>
              <a:t>A un niño le entregan su bandeja, se sienta a comer y nadie le explica qué le faltó.</a:t>
            </a:r>
            <a:endParaRPr lang="en-US" sz="5200" dirty="0"/>
          </a:p>
        </p:txBody>
      </p:sp>
      <p:sp>
        <p:nvSpPr>
          <p:cNvPr id="5" name="Text 2"/>
          <p:cNvSpPr/>
          <p:nvPr/>
        </p:nvSpPr>
        <p:spPr>
          <a:xfrm>
            <a:off x="812800" y="4380654"/>
            <a:ext cx="9156700" cy="10541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E6E2F5"/>
                </a:solidFill>
                <a:latin typeface="Nunito" pitchFamily="34" charset="0"/>
                <a:ea typeface="Nunito" pitchFamily="34" charset="-122"/>
                <a:cs typeface="Nunito" pitchFamily="34" charset="-120"/>
              </a:rPr>
              <a:t>NutriPAE entra en ese instante: entre «me sirvieron» y «me siento a comer». Lee el plato, le dice al niño si está balanceado y por qué, y deja el registro de lo que se le sirvió.</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F"/>
        </a:solidFill>
      </p:bgPr>
    </p:bg>
    <p:spTree>
      <p:nvGrpSpPr>
        <p:cNvPr id="1" name=""/>
        <p:cNvGrpSpPr/>
        <p:nvPr/>
      </p:nvGrpSpPr>
      <p:grpSpPr>
        <a:xfrm>
          <a:off x="0" y="0"/>
          <a:ext cx="0" cy="0"/>
          <a:chOff x="0" y="0"/>
          <a:chExt cx="0" cy="0"/>
        </a:xfrm>
      </p:grpSpPr>
      <p:sp>
        <p:nvSpPr>
          <p:cNvPr id="2" name="Text 0"/>
          <p:cNvSpPr/>
          <p:nvPr/>
        </p:nvSpPr>
        <p:spPr>
          <a:xfrm>
            <a:off x="812800" y="812800"/>
            <a:ext cx="10883392" cy="268288"/>
          </a:xfrm>
          <a:prstGeom prst="rect">
            <a:avLst/>
          </a:prstGeom>
          <a:noFill/>
          <a:ln/>
        </p:spPr>
        <p:txBody>
          <a:bodyPr wrap="square" lIns="0" tIns="0" rIns="0" bIns="0" rtlCol="0" anchor="t">
            <a:normAutofit/>
          </a:bodyPr>
          <a:lstStyle/>
          <a:p>
            <a:pPr algn="l" indent="0" marL="0">
              <a:lnSpc>
                <a:spcPts val="1923"/>
              </a:lnSpc>
              <a:buNone/>
            </a:pPr>
            <a:r>
              <a:rPr lang="en-US" sz="1374" b="1" spc="200" kern="0" dirty="0">
                <a:solidFill>
                  <a:srgbClr val="4C17C1"/>
                </a:solidFill>
                <a:latin typeface="Nunito" pitchFamily="34" charset="0"/>
                <a:ea typeface="Nunito" pitchFamily="34" charset="-122"/>
                <a:cs typeface="Nunito" pitchFamily="34" charset="-120"/>
              </a:rPr>
              <a:t>PROBLEMÁTICA</a:t>
            </a:r>
            <a:endParaRPr lang="en-US" sz="1374" dirty="0"/>
          </a:p>
        </p:txBody>
      </p:sp>
      <p:sp>
        <p:nvSpPr>
          <p:cNvPr id="3" name="Text 1"/>
          <p:cNvSpPr/>
          <p:nvPr>
            <p:ph type="title"/>
          </p:nvPr>
        </p:nvSpPr>
        <p:spPr>
          <a:xfrm>
            <a:off x="812800" y="1309688"/>
            <a:ext cx="10464800" cy="1006687"/>
          </a:xfrm>
          <a:prstGeom prst="rect">
            <a:avLst/>
          </a:prstGeom>
          <a:noFill/>
          <a:ln/>
        </p:spPr>
        <p:txBody>
          <a:bodyPr wrap="square" lIns="0" tIns="0" rIns="0" bIns="0" rtlCol="0" anchor="t">
            <a:normAutofit/>
          </a:bodyPr>
          <a:lstStyle/>
          <a:p>
            <a:pPr algn="l" indent="0" marL="0">
              <a:lnSpc>
                <a:spcPts val="3886"/>
              </a:lnSpc>
              <a:buNone/>
            </a:pPr>
            <a:r>
              <a:rPr lang="en-US" sz="3532" b="1" i="0" dirty="0">
                <a:solidFill>
                  <a:srgbClr val="1F1A3D"/>
                </a:solidFill>
                <a:latin typeface="Fredoka" pitchFamily="34" charset="0"/>
                <a:ea typeface="Fredoka" pitchFamily="34" charset="-122"/>
                <a:cs typeface="Fredoka" pitchFamily="34" charset="-120"/>
              </a:rPr>
              <a:t>El PAE de Neiva no tiene cómo verificar cada ración</a:t>
            </a:r>
            <a:endParaRPr lang="en-US" sz="3532" dirty="0"/>
          </a:p>
        </p:txBody>
      </p:sp>
      <p:sp>
        <p:nvSpPr>
          <p:cNvPr id="4" name="Shape 2"/>
          <p:cNvSpPr/>
          <p:nvPr/>
        </p:nvSpPr>
        <p:spPr>
          <a:xfrm>
            <a:off x="812800" y="2544975"/>
            <a:ext cx="3386667" cy="1816417"/>
          </a:xfrm>
          <a:prstGeom prst="roundRect">
            <a:avLst>
              <a:gd name="adj" fmla="val 8390"/>
            </a:avLst>
          </a:prstGeom>
          <a:solidFill>
            <a:srgbClr val="F2EEFC"/>
          </a:solidFill>
          <a:ln/>
        </p:spPr>
      </p:sp>
      <p:sp>
        <p:nvSpPr>
          <p:cNvPr id="5" name="Text 3"/>
          <p:cNvSpPr/>
          <p:nvPr/>
        </p:nvSpPr>
        <p:spPr>
          <a:xfrm>
            <a:off x="1066800" y="2798975"/>
            <a:ext cx="29650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4C17C1"/>
                </a:solidFill>
                <a:latin typeface="Fredoka" pitchFamily="34" charset="0"/>
                <a:ea typeface="Fredoka" pitchFamily="34" charset="-122"/>
                <a:cs typeface="Fredoka" pitchFamily="34" charset="-120"/>
              </a:rPr>
              <a:t>32.000</a:t>
            </a:r>
            <a:endParaRPr lang="en-US" sz="4800" dirty="0"/>
          </a:p>
        </p:txBody>
      </p:sp>
      <p:sp>
        <p:nvSpPr>
          <p:cNvPr id="6" name="Text 4"/>
          <p:cNvSpPr/>
          <p:nvPr/>
        </p:nvSpPr>
        <p:spPr>
          <a:xfrm>
            <a:off x="1066800" y="3459375"/>
            <a:ext cx="2965027"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A557A"/>
                </a:solidFill>
                <a:latin typeface="Nunito" pitchFamily="34" charset="0"/>
                <a:ea typeface="Nunito" pitchFamily="34" charset="-122"/>
                <a:cs typeface="Nunito" pitchFamily="34" charset="-120"/>
              </a:rPr>
              <a:t>estudiantes dependen del Programa de Alimentación Escolar</a:t>
            </a:r>
            <a:endParaRPr lang="en-US" sz="1400" dirty="0"/>
          </a:p>
        </p:txBody>
      </p:sp>
      <p:sp>
        <p:nvSpPr>
          <p:cNvPr id="7" name="Shape 5"/>
          <p:cNvSpPr/>
          <p:nvPr/>
        </p:nvSpPr>
        <p:spPr>
          <a:xfrm>
            <a:off x="4402667" y="2544975"/>
            <a:ext cx="3386667" cy="1816417"/>
          </a:xfrm>
          <a:prstGeom prst="roundRect">
            <a:avLst>
              <a:gd name="adj" fmla="val 8390"/>
            </a:avLst>
          </a:prstGeom>
          <a:solidFill>
            <a:srgbClr val="F2EEFC"/>
          </a:solidFill>
          <a:ln/>
        </p:spPr>
      </p:sp>
      <p:sp>
        <p:nvSpPr>
          <p:cNvPr id="8" name="Text 6"/>
          <p:cNvSpPr/>
          <p:nvPr/>
        </p:nvSpPr>
        <p:spPr>
          <a:xfrm>
            <a:off x="4656667" y="2798975"/>
            <a:ext cx="29650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4C17C1"/>
                </a:solidFill>
                <a:latin typeface="Fredoka" pitchFamily="34" charset="0"/>
                <a:ea typeface="Fredoka" pitchFamily="34" charset="-122"/>
                <a:cs typeface="Fredoka" pitchFamily="34" charset="-120"/>
              </a:rPr>
              <a:t>167</a:t>
            </a:r>
            <a:endParaRPr lang="en-US" sz="4800" dirty="0"/>
          </a:p>
        </p:txBody>
      </p:sp>
      <p:sp>
        <p:nvSpPr>
          <p:cNvPr id="9" name="Text 7"/>
          <p:cNvSpPr/>
          <p:nvPr/>
        </p:nvSpPr>
        <p:spPr>
          <a:xfrm>
            <a:off x="4656667" y="3459375"/>
            <a:ext cx="2965027"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A557A"/>
                </a:solidFill>
                <a:latin typeface="Nunito" pitchFamily="34" charset="0"/>
                <a:ea typeface="Nunito" pitchFamily="34" charset="-122"/>
                <a:cs typeface="Nunito" pitchFamily="34" charset="-120"/>
              </a:rPr>
              <a:t>sedes educativas oficiales atendidas en Neiva</a:t>
            </a:r>
            <a:endParaRPr lang="en-US" sz="1400" dirty="0"/>
          </a:p>
        </p:txBody>
      </p:sp>
      <p:sp>
        <p:nvSpPr>
          <p:cNvPr id="10" name="Shape 8"/>
          <p:cNvSpPr/>
          <p:nvPr/>
        </p:nvSpPr>
        <p:spPr>
          <a:xfrm>
            <a:off x="7992533" y="2544975"/>
            <a:ext cx="3386667" cy="1816417"/>
          </a:xfrm>
          <a:prstGeom prst="roundRect">
            <a:avLst>
              <a:gd name="adj" fmla="val 8390"/>
            </a:avLst>
          </a:prstGeom>
          <a:solidFill>
            <a:srgbClr val="FFE1E6"/>
          </a:solidFill>
          <a:ln/>
        </p:spPr>
      </p:sp>
      <p:sp>
        <p:nvSpPr>
          <p:cNvPr id="11" name="Text 9"/>
          <p:cNvSpPr/>
          <p:nvPr/>
        </p:nvSpPr>
        <p:spPr>
          <a:xfrm>
            <a:off x="8246533" y="2798975"/>
            <a:ext cx="2965027" cy="613727"/>
          </a:xfrm>
          <a:prstGeom prst="rect">
            <a:avLst/>
          </a:prstGeom>
          <a:noFill/>
          <a:ln/>
        </p:spPr>
        <p:txBody>
          <a:bodyPr wrap="square" lIns="0" tIns="0" rIns="0" bIns="0" rtlCol="0" anchor="t">
            <a:normAutofit/>
          </a:bodyPr>
          <a:lstStyle/>
          <a:p>
            <a:pPr algn="l" indent="0" marL="0">
              <a:lnSpc>
                <a:spcPts val="4665"/>
              </a:lnSpc>
              <a:buNone/>
            </a:pPr>
            <a:r>
              <a:rPr lang="en-US" sz="4665" b="1" dirty="0">
                <a:solidFill>
                  <a:srgbClr val="B81F3C"/>
                </a:solidFill>
                <a:latin typeface="Fredoka" pitchFamily="34" charset="0"/>
                <a:ea typeface="Fredoka" pitchFamily="34" charset="-122"/>
                <a:cs typeface="Fredoka" pitchFamily="34" charset="-120"/>
              </a:rPr>
              <a:t>0</a:t>
            </a:r>
            <a:endParaRPr lang="en-US" sz="4665" dirty="0"/>
          </a:p>
        </p:txBody>
      </p:sp>
      <p:sp>
        <p:nvSpPr>
          <p:cNvPr id="12" name="Text 10"/>
          <p:cNvSpPr/>
          <p:nvPr/>
        </p:nvSpPr>
        <p:spPr>
          <a:xfrm>
            <a:off x="8246533" y="3438102"/>
            <a:ext cx="2965027" cy="694690"/>
          </a:xfrm>
          <a:prstGeom prst="rect">
            <a:avLst/>
          </a:prstGeom>
          <a:noFill/>
          <a:ln/>
        </p:spPr>
        <p:txBody>
          <a:bodyPr wrap="square" lIns="0" tIns="0" rIns="0" bIns="0" rtlCol="0" anchor="t">
            <a:normAutofit/>
          </a:bodyPr>
          <a:lstStyle/>
          <a:p>
            <a:pPr algn="l" indent="0" marL="0">
              <a:lnSpc>
                <a:spcPts val="1757"/>
              </a:lnSpc>
              <a:buNone/>
            </a:pPr>
            <a:r>
              <a:rPr lang="en-US" sz="1352" b="1" dirty="0">
                <a:solidFill>
                  <a:srgbClr val="5A557A"/>
                </a:solidFill>
                <a:latin typeface="Nunito" pitchFamily="34" charset="0"/>
                <a:ea typeface="Nunito" pitchFamily="34" charset="-122"/>
                <a:cs typeface="Nunito" pitchFamily="34" charset="-120"/>
              </a:rPr>
              <a:t>verificaciones objetivas por bandeja: solo visitas puntuales y planillas a mano</a:t>
            </a:r>
            <a:endParaRPr lang="en-US" sz="1352" dirty="0"/>
          </a:p>
        </p:txBody>
      </p:sp>
      <p:sp>
        <p:nvSpPr>
          <p:cNvPr id="13" name="Text 11"/>
          <p:cNvSpPr/>
          <p:nvPr/>
        </p:nvSpPr>
        <p:spPr>
          <a:xfrm>
            <a:off x="877037" y="4615391"/>
            <a:ext cx="10811535" cy="1252008"/>
          </a:xfrm>
          <a:prstGeom prst="rect">
            <a:avLst/>
          </a:prstGeom>
          <a:noFill/>
          <a:ln/>
        </p:spPr>
        <p:txBody>
          <a:bodyPr wrap="square" lIns="0" tIns="0" rIns="0" bIns="0" rtlCol="0" anchor="t">
            <a:normAutofit/>
          </a:bodyPr>
          <a:lstStyle/>
          <a:p>
            <a:pPr algn="l" marL="189763" indent="-189763">
              <a:lnSpc>
                <a:spcPts val="2355"/>
              </a:lnSpc>
              <a:buSzPct val="100000"/>
              <a:buChar char="•"/>
            </a:pPr>
            <a:r>
              <a:rPr lang="en-US" sz="1570" b="1" dirty="0">
                <a:solidFill>
                  <a:srgbClr val="1F1A3D"/>
                </a:solidFill>
                <a:latin typeface="Nunito" pitchFamily="34" charset="0"/>
                <a:ea typeface="Nunito" pitchFamily="34" charset="-122"/>
                <a:cs typeface="Nunito" pitchFamily="34" charset="-120"/>
              </a:rPr>
              <a:t>Interrupciones del servicio, porciones por debajo de la minuta y alimentos sin registro sanitario, denunciados de forma reiterada.</a:t>
            </a:r>
            <a:endParaRPr lang="en-US" sz="1570" dirty="0"/>
          </a:p>
          <a:p>
            <a:pPr algn="l" marL="189763" indent="-189763">
              <a:lnSpc>
                <a:spcPts val="2355"/>
              </a:lnSpc>
              <a:buSzPct val="100000"/>
              <a:buChar char="•"/>
            </a:pPr>
            <a:r>
              <a:rPr lang="en-US" sz="1570" b="1" dirty="0">
                <a:solidFill>
                  <a:srgbClr val="1F1A3D"/>
                </a:solidFill>
                <a:latin typeface="Nunito" pitchFamily="34" charset="0"/>
                <a:ea typeface="Nunito" pitchFamily="34" charset="-122"/>
                <a:cs typeface="Nunito" pitchFamily="34" charset="-120"/>
              </a:rPr>
              <a:t>Sin datos, la administración no puede exigir cumplimiento al operador ni los padres reclamar con evidencia.</a:t>
            </a:r>
            <a:endParaRPr lang="en-US" sz="1570" dirty="0"/>
          </a:p>
          <a:p>
            <a:pPr algn="l" marL="189763" indent="-189763">
              <a:lnSpc>
                <a:spcPts val="2355"/>
              </a:lnSpc>
              <a:buSzPct val="100000"/>
              <a:buChar char="•"/>
            </a:pPr>
            <a:r>
              <a:rPr lang="en-US" sz="1570" b="1" dirty="0">
                <a:solidFill>
                  <a:srgbClr val="1F1A3D"/>
                </a:solidFill>
                <a:latin typeface="Nunito" pitchFamily="34" charset="0"/>
                <a:ea typeface="Nunito" pitchFamily="34" charset="-122"/>
                <a:cs typeface="Nunito" pitchFamily="34" charset="-120"/>
              </a:rPr>
              <a:t>La educación alimentaria se queda en el aula, lejos del momento en que el niño tiene el plato delante.</a:t>
            </a:r>
            <a:endParaRPr lang="en-US" sz="1570" dirty="0"/>
          </a:p>
        </p:txBody>
      </p:sp>
      <p:sp>
        <p:nvSpPr>
          <p:cNvPr id="14" name="Text 12"/>
          <p:cNvSpPr/>
          <p:nvPr/>
        </p:nvSpPr>
        <p:spPr>
          <a:xfrm>
            <a:off x="812800" y="6238239"/>
            <a:ext cx="81274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Fuentes: Secretaría de Educación de Neiva e informes de entes de control sobre el PAE 2024–2026.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EFC"/>
        </a:solidFill>
      </p:bgPr>
    </p:bg>
    <p:spTree>
      <p:nvGrpSpPr>
        <p:cNvPr id="1" name=""/>
        <p:cNvGrpSpPr/>
        <p:nvPr/>
      </p:nvGrpSpPr>
      <p:grpSpPr>
        <a:xfrm>
          <a:off x="0" y="0"/>
          <a:ext cx="0" cy="0"/>
          <a:chOff x="0" y="0"/>
          <a:chExt cx="0" cy="0"/>
        </a:xfrm>
      </p:grpSpPr>
      <p:sp>
        <p:nvSpPr>
          <p:cNvPr id="2" name="Text 0"/>
          <p:cNvSpPr/>
          <p:nvPr/>
        </p:nvSpPr>
        <p:spPr>
          <a:xfrm>
            <a:off x="812800" y="812800"/>
            <a:ext cx="10883392" cy="269028"/>
          </a:xfrm>
          <a:prstGeom prst="rect">
            <a:avLst/>
          </a:prstGeom>
          <a:noFill/>
          <a:ln/>
        </p:spPr>
        <p:txBody>
          <a:bodyPr wrap="square" lIns="0" tIns="0" rIns="0" bIns="0" rtlCol="0" anchor="t">
            <a:normAutofit/>
          </a:bodyPr>
          <a:lstStyle/>
          <a:p>
            <a:pPr algn="l" indent="0" marL="0">
              <a:lnSpc>
                <a:spcPts val="1923"/>
              </a:lnSpc>
              <a:buNone/>
            </a:pPr>
            <a:r>
              <a:rPr lang="en-US" sz="1374" b="1" spc="200" kern="0" dirty="0">
                <a:solidFill>
                  <a:srgbClr val="4C17C1"/>
                </a:solidFill>
                <a:latin typeface="Nunito" pitchFamily="34" charset="0"/>
                <a:ea typeface="Nunito" pitchFamily="34" charset="-122"/>
                <a:cs typeface="Nunito" pitchFamily="34" charset="-120"/>
              </a:rPr>
              <a:t>IMPORTANCIA</a:t>
            </a:r>
            <a:endParaRPr lang="en-US" sz="1374" dirty="0"/>
          </a:p>
        </p:txBody>
      </p:sp>
      <p:sp>
        <p:nvSpPr>
          <p:cNvPr id="3" name="Text 1"/>
          <p:cNvSpPr/>
          <p:nvPr>
            <p:ph type="title"/>
          </p:nvPr>
        </p:nvSpPr>
        <p:spPr>
          <a:xfrm>
            <a:off x="812800" y="1310429"/>
            <a:ext cx="10464800" cy="1010073"/>
          </a:xfrm>
          <a:prstGeom prst="rect">
            <a:avLst/>
          </a:prstGeom>
          <a:noFill/>
          <a:ln/>
        </p:spPr>
        <p:txBody>
          <a:bodyPr wrap="square" lIns="0" tIns="0" rIns="0" bIns="0" rtlCol="0" anchor="t">
            <a:normAutofit/>
          </a:bodyPr>
          <a:lstStyle/>
          <a:p>
            <a:pPr algn="l" indent="0" marL="0">
              <a:lnSpc>
                <a:spcPts val="3886"/>
              </a:lnSpc>
              <a:buNone/>
            </a:pPr>
            <a:r>
              <a:rPr lang="en-US" sz="3532" b="1" i="0" dirty="0">
                <a:solidFill>
                  <a:srgbClr val="1F1A3D"/>
                </a:solidFill>
                <a:latin typeface="Fredoka" pitchFamily="34" charset="0"/>
                <a:ea typeface="Fredoka" pitchFamily="34" charset="-122"/>
                <a:cs typeface="Fredoka" pitchFamily="34" charset="-120"/>
              </a:rPr>
              <a:t>Ese plato decide la asistencia, la concentración y los hábitos de toda una vida</a:t>
            </a:r>
            <a:endParaRPr lang="en-US" sz="3532" dirty="0"/>
          </a:p>
        </p:txBody>
      </p:sp>
      <p:sp>
        <p:nvSpPr>
          <p:cNvPr id="4" name="Shape 2"/>
          <p:cNvSpPr/>
          <p:nvPr/>
        </p:nvSpPr>
        <p:spPr>
          <a:xfrm>
            <a:off x="812800" y="2549102"/>
            <a:ext cx="3386667" cy="2650384"/>
          </a:xfrm>
          <a:prstGeom prst="roundRect">
            <a:avLst>
              <a:gd name="adj" fmla="val 5750"/>
            </a:avLst>
          </a:prstGeom>
          <a:solidFill>
            <a:srgbClr val="FBFAFF"/>
          </a:solidFill>
          <a:ln/>
        </p:spPr>
      </p:sp>
      <p:pic>
        <p:nvPicPr>
          <p:cNvPr id="5" name="Image 0" descr="Home">    </p:cNvPr>
          <p:cNvPicPr>
            <a:picLocks noChangeAspect="1"/>
          </p:cNvPicPr>
          <p:nvPr/>
        </p:nvPicPr>
        <p:blipFill>
          <a:blip r:embed="rId1"/>
          <a:srcRect l="0" r="0" t="-355" b="-355"/>
          <a:stretch/>
        </p:blipFill>
        <p:spPr>
          <a:xfrm>
            <a:off x="1066800" y="2803102"/>
            <a:ext cx="355600" cy="345334"/>
          </a:xfrm>
          <a:prstGeom prst="rect">
            <a:avLst/>
          </a:prstGeom>
        </p:spPr>
      </p:pic>
      <p:sp>
        <p:nvSpPr>
          <p:cNvPr id="6" name="Text 3"/>
          <p:cNvSpPr/>
          <p:nvPr/>
        </p:nvSpPr>
        <p:spPr>
          <a:xfrm>
            <a:off x="1066800" y="3250036"/>
            <a:ext cx="2965027" cy="617538"/>
          </a:xfrm>
          <a:prstGeom prst="rect">
            <a:avLst/>
          </a:prstGeom>
          <a:noFill/>
          <a:ln/>
        </p:spPr>
        <p:txBody>
          <a:bodyPr wrap="square" lIns="0" tIns="0" rIns="0" bIns="0" rtlCol="0" anchor="t">
            <a:normAutofit/>
          </a:bodyPr>
          <a:lstStyle/>
          <a:p>
            <a:pPr algn="l" indent="0" marL="0">
              <a:lnSpc>
                <a:spcPts val="2333"/>
              </a:lnSpc>
              <a:buNone/>
            </a:pPr>
            <a:r>
              <a:rPr lang="en-US" sz="1944" b="1" dirty="0">
                <a:solidFill>
                  <a:srgbClr val="1F1A3D"/>
                </a:solidFill>
                <a:latin typeface="Fredoka" pitchFamily="34" charset="0"/>
                <a:ea typeface="Fredoka" pitchFamily="34" charset="-122"/>
                <a:cs typeface="Fredoka" pitchFamily="34" charset="-120"/>
              </a:rPr>
              <a:t>La comida principal del día</a:t>
            </a:r>
            <a:endParaRPr lang="en-US" sz="1944" dirty="0"/>
          </a:p>
        </p:txBody>
      </p:sp>
      <p:sp>
        <p:nvSpPr>
          <p:cNvPr id="7" name="Text 4"/>
          <p:cNvSpPr/>
          <p:nvPr/>
        </p:nvSpPr>
        <p:spPr>
          <a:xfrm>
            <a:off x="1066800" y="3943773"/>
            <a:ext cx="2965027" cy="1027113"/>
          </a:xfrm>
          <a:prstGeom prst="rect">
            <a:avLst/>
          </a:prstGeom>
          <a:noFill/>
          <a:ln/>
        </p:spPr>
        <p:txBody>
          <a:bodyPr wrap="square" lIns="0" tIns="0" rIns="0" bIns="0" rtlCol="0" anchor="t">
            <a:normAutofit/>
          </a:bodyPr>
          <a:lstStyle/>
          <a:p>
            <a:pPr algn="l" indent="0" marL="0">
              <a:lnSpc>
                <a:spcPts val="1979"/>
              </a:lnSpc>
              <a:buNone/>
            </a:pPr>
            <a:r>
              <a:rPr lang="en-US" sz="1365" dirty="0">
                <a:solidFill>
                  <a:srgbClr val="5A557A"/>
                </a:solidFill>
                <a:latin typeface="Nunito" pitchFamily="34" charset="0"/>
                <a:ea typeface="Nunito" pitchFamily="34" charset="-122"/>
                <a:cs typeface="Nunito" pitchFamily="34" charset="-120"/>
              </a:rPr>
              <a:t>Para muchos niños de estratos 1 y 2, población víctima, migrante y rural, la ración del colegio es la comida más completa que reciben.</a:t>
            </a:r>
            <a:endParaRPr lang="en-US" sz="1365" dirty="0"/>
          </a:p>
        </p:txBody>
      </p:sp>
      <p:sp>
        <p:nvSpPr>
          <p:cNvPr id="8" name="Shape 5"/>
          <p:cNvSpPr/>
          <p:nvPr/>
        </p:nvSpPr>
        <p:spPr>
          <a:xfrm>
            <a:off x="4402667" y="2549102"/>
            <a:ext cx="3386667" cy="2650384"/>
          </a:xfrm>
          <a:prstGeom prst="roundRect">
            <a:avLst>
              <a:gd name="adj" fmla="val 5750"/>
            </a:avLst>
          </a:prstGeom>
          <a:solidFill>
            <a:srgbClr val="FBFAFF"/>
          </a:solidFill>
          <a:ln/>
        </p:spPr>
      </p:sp>
      <p:pic>
        <p:nvPicPr>
          <p:cNvPr id="9" name="Image 1" descr="GraduationCap">    </p:cNvPr>
          <p:cNvPicPr>
            <a:picLocks noChangeAspect="1"/>
          </p:cNvPicPr>
          <p:nvPr/>
        </p:nvPicPr>
        <p:blipFill>
          <a:blip r:embed="rId2"/>
          <a:srcRect l="0" r="0" t="0" b="0"/>
          <a:stretch/>
        </p:blipFill>
        <p:spPr>
          <a:xfrm>
            <a:off x="4656667" y="2803102"/>
            <a:ext cx="355600" cy="355600"/>
          </a:xfrm>
          <a:prstGeom prst="rect">
            <a:avLst/>
          </a:prstGeom>
        </p:spPr>
      </p:pic>
      <p:sp>
        <p:nvSpPr>
          <p:cNvPr id="10" name="Text 6"/>
          <p:cNvSpPr/>
          <p:nvPr/>
        </p:nvSpPr>
        <p:spPr>
          <a:xfrm>
            <a:off x="4656667" y="3260302"/>
            <a:ext cx="296502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1A3D"/>
                </a:solidFill>
                <a:latin typeface="Fredoka" pitchFamily="34" charset="0"/>
                <a:ea typeface="Fredoka" pitchFamily="34" charset="-122"/>
                <a:cs typeface="Fredoka" pitchFamily="34" charset="-120"/>
              </a:rPr>
              <a:t>Aprender con el estómago lleno</a:t>
            </a:r>
            <a:endParaRPr lang="en-US" sz="2000" dirty="0"/>
          </a:p>
        </p:txBody>
      </p:sp>
      <p:sp>
        <p:nvSpPr>
          <p:cNvPr id="11" name="Text 7"/>
          <p:cNvSpPr/>
          <p:nvPr/>
        </p:nvSpPr>
        <p:spPr>
          <a:xfrm>
            <a:off x="4656667" y="3971502"/>
            <a:ext cx="2965027"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557A"/>
                </a:solidFill>
                <a:latin typeface="Nunito" pitchFamily="34" charset="0"/>
                <a:ea typeface="Nunito" pitchFamily="34" charset="-122"/>
                <a:cs typeface="Nunito" pitchFamily="34" charset="-120"/>
              </a:rPr>
              <a:t>La alimentación escolar incide directamente en que el niño vaya al colegio, se concentre y aprenda.</a:t>
            </a:r>
            <a:endParaRPr lang="en-US" sz="1400" dirty="0"/>
          </a:p>
        </p:txBody>
      </p:sp>
      <p:sp>
        <p:nvSpPr>
          <p:cNvPr id="12" name="Shape 8"/>
          <p:cNvSpPr/>
          <p:nvPr/>
        </p:nvSpPr>
        <p:spPr>
          <a:xfrm>
            <a:off x="7992533" y="2549102"/>
            <a:ext cx="3386667" cy="2650384"/>
          </a:xfrm>
          <a:prstGeom prst="roundRect">
            <a:avLst>
              <a:gd name="adj" fmla="val 5750"/>
            </a:avLst>
          </a:prstGeom>
          <a:solidFill>
            <a:srgbClr val="FBFAFF"/>
          </a:solidFill>
          <a:ln/>
        </p:spPr>
      </p:sp>
      <p:pic>
        <p:nvPicPr>
          <p:cNvPr id="13" name="Image 2" descr="Lightbulb">    </p:cNvPr>
          <p:cNvPicPr>
            <a:picLocks noChangeAspect="1"/>
          </p:cNvPicPr>
          <p:nvPr/>
        </p:nvPicPr>
        <p:blipFill>
          <a:blip r:embed="rId3"/>
          <a:srcRect l="0" r="0" t="-355" b="-355"/>
          <a:stretch/>
        </p:blipFill>
        <p:spPr>
          <a:xfrm>
            <a:off x="8246533" y="2803102"/>
            <a:ext cx="355600" cy="345334"/>
          </a:xfrm>
          <a:prstGeom prst="rect">
            <a:avLst/>
          </a:prstGeom>
        </p:spPr>
      </p:pic>
      <p:sp>
        <p:nvSpPr>
          <p:cNvPr id="14" name="Text 9"/>
          <p:cNvSpPr/>
          <p:nvPr/>
        </p:nvSpPr>
        <p:spPr>
          <a:xfrm>
            <a:off x="8246533" y="3250036"/>
            <a:ext cx="2965027" cy="617538"/>
          </a:xfrm>
          <a:prstGeom prst="rect">
            <a:avLst/>
          </a:prstGeom>
          <a:noFill/>
          <a:ln/>
        </p:spPr>
        <p:txBody>
          <a:bodyPr wrap="square" lIns="0" tIns="0" rIns="0" bIns="0" rtlCol="0" anchor="t">
            <a:normAutofit/>
          </a:bodyPr>
          <a:lstStyle/>
          <a:p>
            <a:pPr algn="l" indent="0" marL="0">
              <a:lnSpc>
                <a:spcPts val="2333"/>
              </a:lnSpc>
              <a:buNone/>
            </a:pPr>
            <a:r>
              <a:rPr lang="en-US" sz="1944" b="1" dirty="0">
                <a:solidFill>
                  <a:srgbClr val="1F1A3D"/>
                </a:solidFill>
                <a:latin typeface="Fredoka" pitchFamily="34" charset="0"/>
                <a:ea typeface="Fredoka" pitchFamily="34" charset="-122"/>
                <a:cs typeface="Fredoka" pitchFamily="34" charset="-120"/>
              </a:rPr>
              <a:t>Hábitos que se forman en la mesa</a:t>
            </a:r>
            <a:endParaRPr lang="en-US" sz="1944" dirty="0"/>
          </a:p>
        </p:txBody>
      </p:sp>
      <p:sp>
        <p:nvSpPr>
          <p:cNvPr id="15" name="Text 10"/>
          <p:cNvSpPr/>
          <p:nvPr/>
        </p:nvSpPr>
        <p:spPr>
          <a:xfrm>
            <a:off x="8246533" y="3943773"/>
            <a:ext cx="2965027" cy="1027113"/>
          </a:xfrm>
          <a:prstGeom prst="rect">
            <a:avLst/>
          </a:prstGeom>
          <a:noFill/>
          <a:ln/>
        </p:spPr>
        <p:txBody>
          <a:bodyPr wrap="square" lIns="0" tIns="0" rIns="0" bIns="0" rtlCol="0" anchor="t">
            <a:normAutofit/>
          </a:bodyPr>
          <a:lstStyle/>
          <a:p>
            <a:pPr algn="l" indent="0" marL="0">
              <a:lnSpc>
                <a:spcPts val="1979"/>
              </a:lnSpc>
              <a:buNone/>
            </a:pPr>
            <a:r>
              <a:rPr lang="en-US" sz="1365" dirty="0">
                <a:solidFill>
                  <a:srgbClr val="5A557A"/>
                </a:solidFill>
                <a:latin typeface="Nunito" pitchFamily="34" charset="0"/>
                <a:ea typeface="Nunito" pitchFamily="34" charset="-122"/>
                <a:cs typeface="Nunito" pitchFamily="34" charset="-120"/>
              </a:rPr>
              <a:t>Entre los 6 y los 12 años se aprende qué es comer balanceado. Nadie lo enseña con el plato delante, todos los días.</a:t>
            </a:r>
            <a:endParaRPr lang="en-US" sz="1365" dirty="0"/>
          </a:p>
        </p:txBody>
      </p:sp>
      <p:sp>
        <p:nvSpPr>
          <p:cNvPr id="16" name="Text 11"/>
          <p:cNvSpPr/>
          <p:nvPr/>
        </p:nvSpPr>
        <p:spPr>
          <a:xfrm>
            <a:off x="812800" y="5453487"/>
            <a:ext cx="10464800" cy="617114"/>
          </a:xfrm>
          <a:prstGeom prst="rect">
            <a:avLst/>
          </a:prstGeom>
          <a:noFill/>
          <a:ln/>
        </p:spPr>
        <p:txBody>
          <a:bodyPr wrap="square" lIns="0" tIns="0" rIns="0" bIns="0" rtlCol="0" anchor="t">
            <a:normAutofit/>
          </a:bodyPr>
          <a:lstStyle/>
          <a:p>
            <a:pPr algn="l" indent="0" marL="0">
              <a:lnSpc>
                <a:spcPts val="2335"/>
              </a:lnSpc>
              <a:buNone/>
            </a:pPr>
            <a:r>
              <a:rPr lang="en-US" sz="1668" b="1" dirty="0">
                <a:solidFill>
                  <a:srgbClr val="4C17C1"/>
                </a:solidFill>
                <a:latin typeface="Nunito" pitchFamily="34" charset="0"/>
                <a:ea typeface="Nunito" pitchFamily="34" charset="-122"/>
                <a:cs typeface="Nunito" pitchFamily="34" charset="-120"/>
              </a:rPr>
              <a:t>Un contrato de miles de millones de pesos al año, decidido a ciegas: sin datos de qué se sirve, qué falta y qué se bota.</a:t>
            </a:r>
            <a:endParaRPr lang="en-US" sz="166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4C17C1"/>
                </a:solidFill>
                <a:latin typeface="Nunito" pitchFamily="34" charset="0"/>
                <a:ea typeface="Nunito" pitchFamily="34" charset="-122"/>
                <a:cs typeface="Nunito" pitchFamily="34" charset="-120"/>
              </a:rPr>
              <a:t>SOLUCIÓN</a:t>
            </a:r>
            <a:endParaRPr lang="en-US" sz="1400" dirty="0"/>
          </a:p>
        </p:txBody>
      </p:sp>
      <p:sp>
        <p:nvSpPr>
          <p:cNvPr id="3" name="Text 1"/>
          <p:cNvSpPr/>
          <p:nvPr>
            <p:ph type="title"/>
          </p:nvPr>
        </p:nvSpPr>
        <p:spPr>
          <a:xfrm>
            <a:off x="812800" y="129032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1A3D"/>
                </a:solidFill>
                <a:latin typeface="Fredoka" pitchFamily="34" charset="0"/>
                <a:ea typeface="Fredoka" pitchFamily="34" charset="-122"/>
                <a:cs typeface="Fredoka" pitchFamily="34" charset="-120"/>
              </a:rPr>
              <a:t>Una cámara, una tarjeta y un semáforo que el niño entiende en 10 segundos</a:t>
            </a:r>
            <a:endParaRPr lang="en-US" sz="3600" dirty="0"/>
          </a:p>
        </p:txBody>
      </p:sp>
      <p:sp>
        <p:nvSpPr>
          <p:cNvPr id="4" name="Shape 2"/>
          <p:cNvSpPr/>
          <p:nvPr/>
        </p:nvSpPr>
        <p:spPr>
          <a:xfrm>
            <a:off x="812800" y="2524761"/>
            <a:ext cx="5715000" cy="3213100"/>
          </a:xfrm>
          <a:prstGeom prst="roundRect">
            <a:avLst>
              <a:gd name="adj" fmla="val 4743"/>
            </a:avLst>
          </a:prstGeom>
          <a:solidFill>
            <a:srgbClr val="1F1A3D"/>
          </a:solidFill>
          <a:ln/>
        </p:spPr>
      </p:sp>
      <p:pic>
        <p:nvPicPr>
          <p:cNvPr id="5" name="Image 0" descr="Pantalla de NutriPAE en rojo: a Juan le falta verdura, con la foto del plato y cada alimento marcado">    </p:cNvPr>
          <p:cNvPicPr>
            <a:picLocks noChangeAspect="1"/>
          </p:cNvPicPr>
          <p:nvPr/>
        </p:nvPicPr>
        <p:blipFill>
          <a:blip r:embed="rId1"/>
          <a:stretch>
            <a:fillRect/>
          </a:stretch>
        </p:blipFill>
        <p:spPr>
          <a:xfrm>
            <a:off x="1644528" y="2524761"/>
            <a:ext cx="4051545" cy="3213100"/>
          </a:xfrm>
          <a:prstGeom prst="rect">
            <a:avLst/>
          </a:prstGeom>
        </p:spPr>
      </p:pic>
      <p:sp>
        <p:nvSpPr>
          <p:cNvPr id="6" name="Shape 3"/>
          <p:cNvSpPr/>
          <p:nvPr/>
        </p:nvSpPr>
        <p:spPr>
          <a:xfrm>
            <a:off x="6781800" y="2708911"/>
            <a:ext cx="406400" cy="406400"/>
          </a:xfrm>
          <a:prstGeom prst="roundRect">
            <a:avLst>
              <a:gd name="adj" fmla="val 50000"/>
            </a:avLst>
          </a:prstGeom>
          <a:solidFill>
            <a:srgbClr val="4C17C1"/>
          </a:solidFill>
          <a:ln/>
        </p:spPr>
      </p:sp>
      <p:sp>
        <p:nvSpPr>
          <p:cNvPr id="7" name="Text 4"/>
          <p:cNvSpPr/>
          <p:nvPr/>
        </p:nvSpPr>
        <p:spPr>
          <a:xfrm>
            <a:off x="6756400" y="2708911"/>
            <a:ext cx="457200" cy="431800"/>
          </a:xfrm>
          <a:prstGeom prst="rect">
            <a:avLst/>
          </a:prstGeom>
          <a:noFill/>
          <a:ln/>
        </p:spPr>
        <p:txBody>
          <a:bodyPr wrap="square" lIns="0" tIns="0" rIns="0" bIns="0" rtlCol="0" anchor="t">
            <a:normAutofit/>
          </a:bodyPr>
          <a:lstStyle/>
          <a:p>
            <a:pPr algn="ctr" indent="0" marL="0">
              <a:lnSpc>
                <a:spcPts val="3240"/>
              </a:lnSpc>
              <a:buNone/>
            </a:pPr>
            <a:r>
              <a:rPr lang="en-US" sz="1800" b="1" dirty="0">
                <a:solidFill>
                  <a:srgbClr val="FBFAFF"/>
                </a:solidFill>
                <a:latin typeface="Fredoka" pitchFamily="34" charset="0"/>
                <a:ea typeface="Fredoka" pitchFamily="34" charset="-122"/>
                <a:cs typeface="Fredoka" pitchFamily="34" charset="-120"/>
              </a:rPr>
              <a:t>1</a:t>
            </a:r>
            <a:endParaRPr lang="en-US" sz="1800" dirty="0"/>
          </a:p>
        </p:txBody>
      </p:sp>
      <p:sp>
        <p:nvSpPr>
          <p:cNvPr id="8" name="Text 5"/>
          <p:cNvSpPr/>
          <p:nvPr/>
        </p:nvSpPr>
        <p:spPr>
          <a:xfrm>
            <a:off x="7289800" y="2526348"/>
            <a:ext cx="3924300"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1A3D"/>
                </a:solidFill>
                <a:latin typeface="Nunito" pitchFamily="34" charset="0"/>
                <a:ea typeface="Nunito" pitchFamily="34" charset="-122"/>
                <a:cs typeface="Nunito" pitchFamily="34" charset="-120"/>
              </a:rPr>
              <a:t>El niño pone su tarjeta QR junto a la bandeja, en la estación o frente al celular de la docente.</a:t>
            </a:r>
            <a:endParaRPr lang="en-US" sz="1500" dirty="0"/>
          </a:p>
        </p:txBody>
      </p:sp>
      <p:sp>
        <p:nvSpPr>
          <p:cNvPr id="9" name="Shape 6"/>
          <p:cNvSpPr/>
          <p:nvPr/>
        </p:nvSpPr>
        <p:spPr>
          <a:xfrm>
            <a:off x="6781800" y="3607436"/>
            <a:ext cx="406400" cy="406400"/>
          </a:xfrm>
          <a:prstGeom prst="roundRect">
            <a:avLst>
              <a:gd name="adj" fmla="val 50000"/>
            </a:avLst>
          </a:prstGeom>
          <a:solidFill>
            <a:srgbClr val="4C17C1"/>
          </a:solidFill>
          <a:ln/>
        </p:spPr>
      </p:sp>
      <p:sp>
        <p:nvSpPr>
          <p:cNvPr id="10" name="Text 7"/>
          <p:cNvSpPr/>
          <p:nvPr/>
        </p:nvSpPr>
        <p:spPr>
          <a:xfrm>
            <a:off x="6756400" y="3607436"/>
            <a:ext cx="457200" cy="431800"/>
          </a:xfrm>
          <a:prstGeom prst="rect">
            <a:avLst/>
          </a:prstGeom>
          <a:noFill/>
          <a:ln/>
        </p:spPr>
        <p:txBody>
          <a:bodyPr wrap="square" lIns="0" tIns="0" rIns="0" bIns="0" rtlCol="0" anchor="t">
            <a:normAutofit/>
          </a:bodyPr>
          <a:lstStyle/>
          <a:p>
            <a:pPr algn="ctr" indent="0" marL="0">
              <a:lnSpc>
                <a:spcPts val="3240"/>
              </a:lnSpc>
              <a:buNone/>
            </a:pPr>
            <a:r>
              <a:rPr lang="en-US" sz="1800" b="1" dirty="0">
                <a:solidFill>
                  <a:srgbClr val="FBFAFF"/>
                </a:solidFill>
                <a:latin typeface="Fredoka" pitchFamily="34" charset="0"/>
                <a:ea typeface="Fredoka" pitchFamily="34" charset="-122"/>
                <a:cs typeface="Fredoka" pitchFamily="34" charset="-120"/>
              </a:rPr>
              <a:t>2</a:t>
            </a:r>
            <a:endParaRPr lang="en-US" sz="1800" dirty="0"/>
          </a:p>
        </p:txBody>
      </p:sp>
      <p:sp>
        <p:nvSpPr>
          <p:cNvPr id="11" name="Text 8"/>
          <p:cNvSpPr/>
          <p:nvPr/>
        </p:nvSpPr>
        <p:spPr>
          <a:xfrm>
            <a:off x="7289800" y="3424873"/>
            <a:ext cx="3924300"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1A3D"/>
                </a:solidFill>
                <a:latin typeface="Nunito" pitchFamily="34" charset="0"/>
                <a:ea typeface="Nunito" pitchFamily="34" charset="-122"/>
                <a:cs typeface="Nunito" pitchFamily="34" charset="-120"/>
              </a:rPr>
              <a:t>La IA segmenta el plato, nombra cada alimento, estima sus gramos y revisa su aspecto.</a:t>
            </a:r>
            <a:endParaRPr lang="en-US" sz="1500" dirty="0"/>
          </a:p>
        </p:txBody>
      </p:sp>
      <p:sp>
        <p:nvSpPr>
          <p:cNvPr id="12" name="Shape 9"/>
          <p:cNvSpPr/>
          <p:nvPr/>
        </p:nvSpPr>
        <p:spPr>
          <a:xfrm>
            <a:off x="6781800" y="4505961"/>
            <a:ext cx="406400" cy="406400"/>
          </a:xfrm>
          <a:prstGeom prst="roundRect">
            <a:avLst>
              <a:gd name="adj" fmla="val 50000"/>
            </a:avLst>
          </a:prstGeom>
          <a:solidFill>
            <a:srgbClr val="4C17C1"/>
          </a:solidFill>
          <a:ln/>
        </p:spPr>
      </p:sp>
      <p:sp>
        <p:nvSpPr>
          <p:cNvPr id="13" name="Text 10"/>
          <p:cNvSpPr/>
          <p:nvPr/>
        </p:nvSpPr>
        <p:spPr>
          <a:xfrm>
            <a:off x="6756400" y="4505961"/>
            <a:ext cx="457200" cy="431800"/>
          </a:xfrm>
          <a:prstGeom prst="rect">
            <a:avLst/>
          </a:prstGeom>
          <a:noFill/>
          <a:ln/>
        </p:spPr>
        <p:txBody>
          <a:bodyPr wrap="square" lIns="0" tIns="0" rIns="0" bIns="0" rtlCol="0" anchor="t">
            <a:normAutofit/>
          </a:bodyPr>
          <a:lstStyle/>
          <a:p>
            <a:pPr algn="ctr" indent="0" marL="0">
              <a:lnSpc>
                <a:spcPts val="3240"/>
              </a:lnSpc>
              <a:buNone/>
            </a:pPr>
            <a:r>
              <a:rPr lang="en-US" sz="1800" b="1" dirty="0">
                <a:solidFill>
                  <a:srgbClr val="FBFAFF"/>
                </a:solidFill>
                <a:latin typeface="Fredoka" pitchFamily="34" charset="0"/>
                <a:ea typeface="Fredoka" pitchFamily="34" charset="-122"/>
                <a:cs typeface="Fredoka" pitchFamily="34" charset="-120"/>
              </a:rPr>
              <a:t>3</a:t>
            </a:r>
            <a:endParaRPr lang="en-US" sz="1800" dirty="0"/>
          </a:p>
        </p:txBody>
      </p:sp>
      <p:sp>
        <p:nvSpPr>
          <p:cNvPr id="14" name="Text 11"/>
          <p:cNvSpPr/>
          <p:nvPr/>
        </p:nvSpPr>
        <p:spPr>
          <a:xfrm>
            <a:off x="7289800" y="4323398"/>
            <a:ext cx="3924300"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1A3D"/>
                </a:solidFill>
                <a:latin typeface="Nunito" pitchFamily="34" charset="0"/>
                <a:ea typeface="Nunito" pitchFamily="34" charset="-122"/>
                <a:cs typeface="Nunito" pitchFamily="34" charset="-120"/>
              </a:rPr>
              <a:t>Semáforo con su nombre y una sola razón: «Te falta verdura. La verdura te ayuda a crecer fuerte.»</a:t>
            </a:r>
            <a:endParaRPr lang="en-US" sz="1500" dirty="0"/>
          </a:p>
        </p:txBody>
      </p:sp>
      <p:sp>
        <p:nvSpPr>
          <p:cNvPr id="15" name="Shape 12"/>
          <p:cNvSpPr/>
          <p:nvPr/>
        </p:nvSpPr>
        <p:spPr>
          <a:xfrm>
            <a:off x="6781800" y="5275898"/>
            <a:ext cx="406400" cy="406400"/>
          </a:xfrm>
          <a:prstGeom prst="roundRect">
            <a:avLst>
              <a:gd name="adj" fmla="val 50000"/>
            </a:avLst>
          </a:prstGeom>
          <a:solidFill>
            <a:srgbClr val="23D098"/>
          </a:solidFill>
          <a:ln/>
        </p:spPr>
      </p:sp>
      <p:sp>
        <p:nvSpPr>
          <p:cNvPr id="16" name="Text 13"/>
          <p:cNvSpPr/>
          <p:nvPr/>
        </p:nvSpPr>
        <p:spPr>
          <a:xfrm>
            <a:off x="6756400" y="5275898"/>
            <a:ext cx="457200" cy="431800"/>
          </a:xfrm>
          <a:prstGeom prst="rect">
            <a:avLst/>
          </a:prstGeom>
          <a:noFill/>
          <a:ln/>
        </p:spPr>
        <p:txBody>
          <a:bodyPr wrap="square" lIns="0" tIns="0" rIns="0" bIns="0" rtlCol="0" anchor="t">
            <a:normAutofit/>
          </a:bodyPr>
          <a:lstStyle/>
          <a:p>
            <a:pPr algn="ctr" indent="0" marL="0">
              <a:lnSpc>
                <a:spcPts val="3240"/>
              </a:lnSpc>
              <a:buNone/>
            </a:pPr>
            <a:r>
              <a:rPr lang="en-US" sz="1800" b="1" dirty="0">
                <a:solidFill>
                  <a:srgbClr val="1F1A3D"/>
                </a:solidFill>
                <a:latin typeface="Fredoka" pitchFamily="34" charset="0"/>
                <a:ea typeface="Fredoka" pitchFamily="34" charset="-122"/>
                <a:cs typeface="Fredoka" pitchFamily="34" charset="-120"/>
              </a:rPr>
              <a:t>4</a:t>
            </a:r>
            <a:endParaRPr lang="en-US" sz="1800" dirty="0"/>
          </a:p>
        </p:txBody>
      </p:sp>
      <p:sp>
        <p:nvSpPr>
          <p:cNvPr id="17" name="Text 14"/>
          <p:cNvSpPr/>
          <p:nvPr/>
        </p:nvSpPr>
        <p:spPr>
          <a:xfrm>
            <a:off x="7289800" y="5221923"/>
            <a:ext cx="392430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1A3D"/>
                </a:solidFill>
                <a:latin typeface="Nunito" pitchFamily="34" charset="0"/>
                <a:ea typeface="Nunito" pitchFamily="34" charset="-122"/>
                <a:cs typeface="Nunito" pitchFamily="34" charset="-120"/>
              </a:rPr>
              <a:t>Si está en rojo, vuelve a la fila y le completan el plato antes de sentarse.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EF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4C17C1"/>
                </a:solidFill>
                <a:latin typeface="Nunito" pitchFamily="34" charset="0"/>
                <a:ea typeface="Nunito" pitchFamily="34" charset="-122"/>
                <a:cs typeface="Nunito" pitchFamily="34" charset="-120"/>
              </a:rPr>
              <a:t>SOLUCIÓN · DOS CAPAS Y UN REGISTRO</a:t>
            </a:r>
            <a:endParaRPr lang="en-US" sz="1400" dirty="0"/>
          </a:p>
        </p:txBody>
      </p:sp>
      <p:sp>
        <p:nvSpPr>
          <p:cNvPr id="3" name="Text 1"/>
          <p:cNvSpPr/>
          <p:nvPr>
            <p:ph type="title"/>
          </p:nvPr>
        </p:nvSpPr>
        <p:spPr>
          <a:xfrm>
            <a:off x="812800" y="129032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1A3D"/>
                </a:solidFill>
                <a:latin typeface="Fredoka" pitchFamily="34" charset="0"/>
                <a:ea typeface="Fredoka" pitchFamily="34" charset="-122"/>
                <a:cs typeface="Fredoka" pitchFamily="34" charset="-120"/>
              </a:rPr>
              <a:t>Lo que ve el niño, lo que ve la docente y lo que recibe la familia</a:t>
            </a:r>
            <a:endParaRPr lang="en-US" sz="3600" dirty="0"/>
          </a:p>
        </p:txBody>
      </p:sp>
      <p:sp>
        <p:nvSpPr>
          <p:cNvPr id="4" name="Shape 2"/>
          <p:cNvSpPr/>
          <p:nvPr/>
        </p:nvSpPr>
        <p:spPr>
          <a:xfrm>
            <a:off x="812800" y="2524761"/>
            <a:ext cx="3403600" cy="3355340"/>
          </a:xfrm>
          <a:prstGeom prst="roundRect">
            <a:avLst>
              <a:gd name="adj" fmla="val 4542"/>
            </a:avLst>
          </a:prstGeom>
          <a:solidFill>
            <a:srgbClr val="FBFAFF"/>
          </a:solidFill>
          <a:ln/>
        </p:spPr>
      </p:sp>
      <p:sp>
        <p:nvSpPr>
          <p:cNvPr id="5" name="Text 3"/>
          <p:cNvSpPr/>
          <p:nvPr/>
        </p:nvSpPr>
        <p:spPr>
          <a:xfrm>
            <a:off x="1016000" y="2727961"/>
            <a:ext cx="30871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C17C1"/>
                </a:solidFill>
                <a:latin typeface="Fredoka" pitchFamily="34" charset="0"/>
                <a:ea typeface="Fredoka" pitchFamily="34" charset="-122"/>
                <a:cs typeface="Fredoka" pitchFamily="34" charset="-120"/>
              </a:rPr>
              <a:t>El niño</a:t>
            </a:r>
            <a:endParaRPr lang="en-US" sz="1800" dirty="0"/>
          </a:p>
        </p:txBody>
      </p:sp>
      <p:sp>
        <p:nvSpPr>
          <p:cNvPr id="6" name="Shape 4"/>
          <p:cNvSpPr/>
          <p:nvPr/>
        </p:nvSpPr>
        <p:spPr>
          <a:xfrm>
            <a:off x="1016000" y="3103879"/>
            <a:ext cx="2997200" cy="1778000"/>
          </a:xfrm>
          <a:prstGeom prst="roundRect">
            <a:avLst>
              <a:gd name="adj" fmla="val 5714"/>
            </a:avLst>
          </a:prstGeom>
          <a:solidFill>
            <a:srgbClr val="1F1A3D"/>
          </a:solidFill>
          <a:ln/>
        </p:spPr>
      </p:sp>
      <p:pic>
        <p:nvPicPr>
          <p:cNvPr id="7" name="Image 0" descr="Veredicto verde en el celular: ¡Listo, Juan! Tu plato está balanceado">    </p:cNvPr>
          <p:cNvPicPr>
            <a:picLocks noChangeAspect="1"/>
          </p:cNvPicPr>
          <p:nvPr/>
        </p:nvPicPr>
        <p:blipFill>
          <a:blip r:embed="rId1"/>
          <a:stretch>
            <a:fillRect/>
          </a:stretch>
        </p:blipFill>
        <p:spPr>
          <a:xfrm>
            <a:off x="2103806" y="3103879"/>
            <a:ext cx="821588" cy="1778000"/>
          </a:xfrm>
          <a:prstGeom prst="rect">
            <a:avLst/>
          </a:prstGeom>
        </p:spPr>
      </p:pic>
      <p:sp>
        <p:nvSpPr>
          <p:cNvPr id="8" name="Text 5"/>
          <p:cNvSpPr/>
          <p:nvPr/>
        </p:nvSpPr>
        <p:spPr>
          <a:xfrm>
            <a:off x="1016000" y="4983479"/>
            <a:ext cx="30871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57A"/>
                </a:solidFill>
                <a:latin typeface="Nunito" pitchFamily="34" charset="0"/>
                <a:ea typeface="Nunito" pitchFamily="34" charset="-122"/>
                <a:cs typeface="Nunito" pitchFamily="34" charset="-120"/>
              </a:rPr>
              <a:t>Semáforo grande, legible a dos metros, siempre con color e ícono. Una razón en su lenguaje.</a:t>
            </a:r>
            <a:endParaRPr lang="en-US" sz="1300" dirty="0"/>
          </a:p>
        </p:txBody>
      </p:sp>
      <p:sp>
        <p:nvSpPr>
          <p:cNvPr id="9" name="Shape 6"/>
          <p:cNvSpPr/>
          <p:nvPr/>
        </p:nvSpPr>
        <p:spPr>
          <a:xfrm>
            <a:off x="4394200" y="2524761"/>
            <a:ext cx="3403600" cy="3355340"/>
          </a:xfrm>
          <a:prstGeom prst="roundRect">
            <a:avLst>
              <a:gd name="adj" fmla="val 4542"/>
            </a:avLst>
          </a:prstGeom>
          <a:solidFill>
            <a:srgbClr val="FBFAFF"/>
          </a:solidFill>
          <a:ln/>
        </p:spPr>
      </p:sp>
      <p:sp>
        <p:nvSpPr>
          <p:cNvPr id="10" name="Text 7"/>
          <p:cNvSpPr/>
          <p:nvPr/>
        </p:nvSpPr>
        <p:spPr>
          <a:xfrm>
            <a:off x="4597400" y="2727961"/>
            <a:ext cx="30871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C17C1"/>
                </a:solidFill>
                <a:latin typeface="Fredoka" pitchFamily="34" charset="0"/>
                <a:ea typeface="Fredoka" pitchFamily="34" charset="-122"/>
                <a:cs typeface="Fredoka" pitchFamily="34" charset="-120"/>
              </a:rPr>
              <a:t>La docente</a:t>
            </a:r>
            <a:endParaRPr lang="en-US" sz="1800" dirty="0"/>
          </a:p>
        </p:txBody>
      </p:sp>
      <p:sp>
        <p:nvSpPr>
          <p:cNvPr id="11" name="Shape 8"/>
          <p:cNvSpPr/>
          <p:nvPr/>
        </p:nvSpPr>
        <p:spPr>
          <a:xfrm>
            <a:off x="4597400" y="3103879"/>
            <a:ext cx="2997200" cy="1778000"/>
          </a:xfrm>
          <a:prstGeom prst="roundRect">
            <a:avLst>
              <a:gd name="adj" fmla="val 5714"/>
            </a:avLst>
          </a:prstGeom>
          <a:solidFill>
            <a:srgbClr val="1F1A3D"/>
          </a:solidFill>
          <a:ln/>
        </p:spPr>
      </p:sp>
      <p:pic>
        <p:nvPicPr>
          <p:cNvPr id="12" name="Image 1" descr="Pantalla de la docente con el pase de lista: Turno de Thiago Salazar Medina, 1 de 5">    </p:cNvPr>
          <p:cNvPicPr>
            <a:picLocks noChangeAspect="1"/>
          </p:cNvPicPr>
          <p:nvPr/>
        </p:nvPicPr>
        <p:blipFill>
          <a:blip r:embed="rId2"/>
          <a:stretch>
            <a:fillRect/>
          </a:stretch>
        </p:blipFill>
        <p:spPr>
          <a:xfrm>
            <a:off x="4831644" y="3103879"/>
            <a:ext cx="2528711" cy="1778000"/>
          </a:xfrm>
          <a:prstGeom prst="rect">
            <a:avLst/>
          </a:prstGeom>
        </p:spPr>
      </p:pic>
      <p:sp>
        <p:nvSpPr>
          <p:cNvPr id="13" name="Text 9"/>
          <p:cNvSpPr/>
          <p:nvPr/>
        </p:nvSpPr>
        <p:spPr>
          <a:xfrm>
            <a:off x="4597400" y="4983479"/>
            <a:ext cx="30871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57A"/>
                </a:solidFill>
                <a:latin typeface="Nunito" pitchFamily="34" charset="0"/>
                <a:ea typeface="Nunito" pitchFamily="34" charset="-122"/>
                <a:cs typeface="Nunito" pitchFamily="34" charset="-120"/>
              </a:rPr>
              <a:t>Alimentos, gramos y nutrientes del plato. Pasa lista por nombre, corrige un alimento y busca al niño sin tarjeta.</a:t>
            </a:r>
            <a:endParaRPr lang="en-US" sz="1300" dirty="0"/>
          </a:p>
        </p:txBody>
      </p:sp>
      <p:sp>
        <p:nvSpPr>
          <p:cNvPr id="14" name="Shape 10"/>
          <p:cNvSpPr/>
          <p:nvPr/>
        </p:nvSpPr>
        <p:spPr>
          <a:xfrm>
            <a:off x="7975600" y="2524761"/>
            <a:ext cx="3403600" cy="3355340"/>
          </a:xfrm>
          <a:prstGeom prst="roundRect">
            <a:avLst>
              <a:gd name="adj" fmla="val 4542"/>
            </a:avLst>
          </a:prstGeom>
          <a:solidFill>
            <a:srgbClr val="FBFAFF"/>
          </a:solidFill>
          <a:ln/>
        </p:spPr>
      </p:sp>
      <p:sp>
        <p:nvSpPr>
          <p:cNvPr id="15" name="Text 11"/>
          <p:cNvSpPr/>
          <p:nvPr/>
        </p:nvSpPr>
        <p:spPr>
          <a:xfrm>
            <a:off x="8178800" y="2727961"/>
            <a:ext cx="308711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C17C1"/>
                </a:solidFill>
                <a:latin typeface="Fredoka" pitchFamily="34" charset="0"/>
                <a:ea typeface="Fredoka" pitchFamily="34" charset="-122"/>
                <a:cs typeface="Fredoka" pitchFamily="34" charset="-120"/>
              </a:rPr>
              <a:t>La familia y la nutricionista</a:t>
            </a:r>
            <a:endParaRPr lang="en-US" sz="1800" dirty="0"/>
          </a:p>
        </p:txBody>
      </p:sp>
      <p:sp>
        <p:nvSpPr>
          <p:cNvPr id="16" name="Shape 12"/>
          <p:cNvSpPr/>
          <p:nvPr/>
        </p:nvSpPr>
        <p:spPr>
          <a:xfrm>
            <a:off x="8178800" y="3103879"/>
            <a:ext cx="2997200" cy="1778000"/>
          </a:xfrm>
          <a:prstGeom prst="roundRect">
            <a:avLst>
              <a:gd name="adj" fmla="val 5714"/>
            </a:avLst>
          </a:prstGeom>
          <a:solidFill>
            <a:srgbClr val="1F1A3D"/>
          </a:solidFill>
          <a:ln/>
        </p:spPr>
      </p:sp>
      <p:pic>
        <p:nvPicPr>
          <p:cNvPr id="17" name="Image 2" descr="Historial de un estudiante: días verdes, amarillos y rojos y el grupo que más falta">    </p:cNvPr>
          <p:cNvPicPr>
            <a:picLocks noChangeAspect="1"/>
          </p:cNvPicPr>
          <p:nvPr/>
        </p:nvPicPr>
        <p:blipFill>
          <a:blip r:embed="rId3"/>
          <a:stretch>
            <a:fillRect/>
          </a:stretch>
        </p:blipFill>
        <p:spPr>
          <a:xfrm>
            <a:off x="8413044" y="3103879"/>
            <a:ext cx="2528711" cy="1778000"/>
          </a:xfrm>
          <a:prstGeom prst="rect">
            <a:avLst/>
          </a:prstGeom>
        </p:spPr>
      </p:pic>
      <p:sp>
        <p:nvSpPr>
          <p:cNvPr id="18" name="Text 13"/>
          <p:cNvSpPr/>
          <p:nvPr/>
        </p:nvSpPr>
        <p:spPr>
          <a:xfrm>
            <a:off x="8178800" y="4983479"/>
            <a:ext cx="30871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57A"/>
                </a:solidFill>
                <a:latin typeface="Nunito" pitchFamily="34" charset="0"/>
                <a:ea typeface="Nunito" pitchFamily="34" charset="-122"/>
                <a:cs typeface="Nunito" pitchFamily="34" charset="-120"/>
              </a:rPr>
              <a:t>Historial por niño de lo que se le sirvió, PDF para los padres a pedido y resumen por sede y grado.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4C17C1"/>
                </a:solidFill>
                <a:latin typeface="Nunito" pitchFamily="34" charset="0"/>
                <a:ea typeface="Nunito" pitchFamily="34" charset="-122"/>
                <a:cs typeface="Nunito" pitchFamily="34" charset="-120"/>
              </a:rPr>
              <a:t>TÉCNICO</a:t>
            </a:r>
            <a:endParaRPr lang="en-US" sz="1400" dirty="0"/>
          </a:p>
        </p:txBody>
      </p:sp>
      <p:sp>
        <p:nvSpPr>
          <p:cNvPr id="3" name="Text 1"/>
          <p:cNvSpPr/>
          <p:nvPr>
            <p:ph type="title"/>
          </p:nvPr>
        </p:nvSpPr>
        <p:spPr>
          <a:xfrm>
            <a:off x="812800" y="1290321"/>
            <a:ext cx="104648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1A3D"/>
                </a:solidFill>
                <a:latin typeface="Fredoka" pitchFamily="34" charset="0"/>
                <a:ea typeface="Fredoka" pitchFamily="34" charset="-122"/>
                <a:cs typeface="Fredoka" pitchFamily="34" charset="-120"/>
              </a:rPr>
              <a:t>De la foto al veredicto en cinco pasos</a:t>
            </a:r>
            <a:endParaRPr lang="en-US" sz="3600" dirty="0"/>
          </a:p>
        </p:txBody>
      </p:sp>
      <p:sp>
        <p:nvSpPr>
          <p:cNvPr id="4" name="Shape 2"/>
          <p:cNvSpPr/>
          <p:nvPr/>
        </p:nvSpPr>
        <p:spPr>
          <a:xfrm>
            <a:off x="812800" y="2021839"/>
            <a:ext cx="1747520" cy="1943100"/>
          </a:xfrm>
          <a:prstGeom prst="roundRect">
            <a:avLst>
              <a:gd name="adj" fmla="val 7267"/>
            </a:avLst>
          </a:prstGeom>
          <a:solidFill>
            <a:srgbClr val="F2EEFC"/>
          </a:solidFill>
          <a:ln/>
        </p:spPr>
      </p:sp>
      <p:sp>
        <p:nvSpPr>
          <p:cNvPr id="5" name="Text 3"/>
          <p:cNvSpPr/>
          <p:nvPr/>
        </p:nvSpPr>
        <p:spPr>
          <a:xfrm>
            <a:off x="965200" y="2199639"/>
            <a:ext cx="14935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C17C1"/>
                </a:solidFill>
                <a:latin typeface="Fredoka" pitchFamily="34" charset="0"/>
                <a:ea typeface="Fredoka" pitchFamily="34" charset="-122"/>
                <a:cs typeface="Fredoka" pitchFamily="34" charset="-120"/>
              </a:rPr>
              <a:t>1 · Toma</a:t>
            </a:r>
            <a:endParaRPr lang="en-US" sz="1600" dirty="0"/>
          </a:p>
        </p:txBody>
      </p:sp>
      <p:sp>
        <p:nvSpPr>
          <p:cNvPr id="6" name="Text 4"/>
          <p:cNvSpPr/>
          <p:nvPr/>
        </p:nvSpPr>
        <p:spPr>
          <a:xfrm>
            <a:off x="965200" y="2506979"/>
            <a:ext cx="1493520" cy="13055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Cámara cenital a la bandeja. Lee el QR en el navegador. Descarta la foto si aparece una persona.</a:t>
            </a:r>
            <a:endParaRPr lang="en-US" sz="1200" dirty="0"/>
          </a:p>
        </p:txBody>
      </p:sp>
      <p:pic>
        <p:nvPicPr>
          <p:cNvPr id="7" name="Image 0" descr="connector">    </p:cNvPr>
          <p:cNvPicPr>
            <a:picLocks noChangeAspect="1"/>
          </p:cNvPicPr>
          <p:nvPr/>
        </p:nvPicPr>
        <p:blipFill>
          <a:blip r:embed="rId1"/>
          <a:srcRect l="0" r="0" t="0" b="0"/>
          <a:stretch/>
        </p:blipFill>
        <p:spPr>
          <a:xfrm>
            <a:off x="2661920" y="2929889"/>
            <a:ext cx="254000" cy="127000"/>
          </a:xfrm>
          <a:prstGeom prst="rect">
            <a:avLst/>
          </a:prstGeom>
        </p:spPr>
      </p:pic>
      <p:sp>
        <p:nvSpPr>
          <p:cNvPr id="8" name="Shape 5"/>
          <p:cNvSpPr/>
          <p:nvPr/>
        </p:nvSpPr>
        <p:spPr>
          <a:xfrm>
            <a:off x="3017520" y="2235200"/>
            <a:ext cx="1747520" cy="1516380"/>
          </a:xfrm>
          <a:prstGeom prst="roundRect">
            <a:avLst>
              <a:gd name="adj" fmla="val 8375"/>
            </a:avLst>
          </a:prstGeom>
          <a:solidFill>
            <a:srgbClr val="F2EEFC"/>
          </a:solidFill>
          <a:ln/>
        </p:spPr>
      </p:sp>
      <p:sp>
        <p:nvSpPr>
          <p:cNvPr id="9" name="Text 6"/>
          <p:cNvSpPr/>
          <p:nvPr/>
        </p:nvSpPr>
        <p:spPr>
          <a:xfrm>
            <a:off x="3169920" y="2413000"/>
            <a:ext cx="14935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C17C1"/>
                </a:solidFill>
                <a:latin typeface="Fredoka" pitchFamily="34" charset="0"/>
                <a:ea typeface="Fredoka" pitchFamily="34" charset="-122"/>
                <a:cs typeface="Fredoka" pitchFamily="34" charset="-120"/>
              </a:rPr>
              <a:t>2 · Segmenta</a:t>
            </a:r>
            <a:endParaRPr lang="en-US" sz="1600" dirty="0"/>
          </a:p>
        </p:txBody>
      </p:sp>
      <p:sp>
        <p:nvSpPr>
          <p:cNvPr id="10" name="Text 7"/>
          <p:cNvSpPr/>
          <p:nvPr/>
        </p:nvSpPr>
        <p:spPr>
          <a:xfrm>
            <a:off x="3169920" y="2720339"/>
            <a:ext cx="149352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FastSAM dibuja el contorno de cada alimento en CPU, en 1 a 2 segundos.</a:t>
            </a:r>
            <a:endParaRPr lang="en-US" sz="1200" dirty="0"/>
          </a:p>
        </p:txBody>
      </p:sp>
      <p:pic>
        <p:nvPicPr>
          <p:cNvPr id="11" name="Image 1" descr="connector">    </p:cNvPr>
          <p:cNvPicPr>
            <a:picLocks noChangeAspect="1"/>
          </p:cNvPicPr>
          <p:nvPr/>
        </p:nvPicPr>
        <p:blipFill>
          <a:blip r:embed="rId2"/>
          <a:srcRect l="0" r="0" t="0" b="0"/>
          <a:stretch/>
        </p:blipFill>
        <p:spPr>
          <a:xfrm>
            <a:off x="4866640" y="2929889"/>
            <a:ext cx="254000" cy="127000"/>
          </a:xfrm>
          <a:prstGeom prst="rect">
            <a:avLst/>
          </a:prstGeom>
        </p:spPr>
      </p:pic>
      <p:sp>
        <p:nvSpPr>
          <p:cNvPr id="12" name="Shape 8"/>
          <p:cNvSpPr/>
          <p:nvPr/>
        </p:nvSpPr>
        <p:spPr>
          <a:xfrm>
            <a:off x="5222240" y="2021839"/>
            <a:ext cx="1747520" cy="1943100"/>
          </a:xfrm>
          <a:prstGeom prst="roundRect">
            <a:avLst>
              <a:gd name="adj" fmla="val 7267"/>
            </a:avLst>
          </a:prstGeom>
          <a:solidFill>
            <a:srgbClr val="F2EEFC"/>
          </a:solidFill>
          <a:ln/>
        </p:spPr>
      </p:sp>
      <p:sp>
        <p:nvSpPr>
          <p:cNvPr id="13" name="Text 9"/>
          <p:cNvSpPr/>
          <p:nvPr/>
        </p:nvSpPr>
        <p:spPr>
          <a:xfrm>
            <a:off x="5374640" y="2199639"/>
            <a:ext cx="14935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C17C1"/>
                </a:solidFill>
                <a:latin typeface="Fredoka" pitchFamily="34" charset="0"/>
                <a:ea typeface="Fredoka" pitchFamily="34" charset="-122"/>
                <a:cs typeface="Fredoka" pitchFamily="34" charset="-120"/>
              </a:rPr>
              <a:t>3 · Identifica</a:t>
            </a:r>
            <a:endParaRPr lang="en-US" sz="1600" dirty="0"/>
          </a:p>
        </p:txBody>
      </p:sp>
      <p:sp>
        <p:nvSpPr>
          <p:cNvPr id="14" name="Text 10"/>
          <p:cNvSpPr/>
          <p:nvPr/>
        </p:nvSpPr>
        <p:spPr>
          <a:xfrm>
            <a:off x="5374640" y="2506979"/>
            <a:ext cx="1493520" cy="13055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IA de visión multimodal nombra cada alimento, estima gramos sin báscula y marca mal aspecto.</a:t>
            </a:r>
            <a:endParaRPr lang="en-US" sz="1200" dirty="0"/>
          </a:p>
        </p:txBody>
      </p:sp>
      <p:pic>
        <p:nvPicPr>
          <p:cNvPr id="15" name="Image 2" descr="connector">    </p:cNvPr>
          <p:cNvPicPr>
            <a:picLocks noChangeAspect="1"/>
          </p:cNvPicPr>
          <p:nvPr/>
        </p:nvPicPr>
        <p:blipFill>
          <a:blip r:embed="rId3"/>
          <a:srcRect l="0" r="0" t="0" b="0"/>
          <a:stretch/>
        </p:blipFill>
        <p:spPr>
          <a:xfrm>
            <a:off x="7071360" y="2929889"/>
            <a:ext cx="254000" cy="127000"/>
          </a:xfrm>
          <a:prstGeom prst="rect">
            <a:avLst/>
          </a:prstGeom>
        </p:spPr>
      </p:pic>
      <p:sp>
        <p:nvSpPr>
          <p:cNvPr id="16" name="Shape 11"/>
          <p:cNvSpPr/>
          <p:nvPr/>
        </p:nvSpPr>
        <p:spPr>
          <a:xfrm>
            <a:off x="7426960" y="2128521"/>
            <a:ext cx="1747520" cy="1729740"/>
          </a:xfrm>
          <a:prstGeom prst="roundRect">
            <a:avLst>
              <a:gd name="adj" fmla="val 7342"/>
            </a:avLst>
          </a:prstGeom>
          <a:solidFill>
            <a:srgbClr val="F2EEFC"/>
          </a:solidFill>
          <a:ln/>
        </p:spPr>
      </p:sp>
      <p:sp>
        <p:nvSpPr>
          <p:cNvPr id="17" name="Text 12"/>
          <p:cNvSpPr/>
          <p:nvPr/>
        </p:nvSpPr>
        <p:spPr>
          <a:xfrm>
            <a:off x="7579360" y="2306321"/>
            <a:ext cx="14935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C17C1"/>
                </a:solidFill>
                <a:latin typeface="Fredoka" pitchFamily="34" charset="0"/>
                <a:ea typeface="Fredoka" pitchFamily="34" charset="-122"/>
                <a:cs typeface="Fredoka" pitchFamily="34" charset="-120"/>
              </a:rPr>
              <a:t>4 · Evalúa</a:t>
            </a:r>
            <a:endParaRPr lang="en-US" sz="1600" dirty="0"/>
          </a:p>
        </p:txBody>
      </p:sp>
      <p:sp>
        <p:nvSpPr>
          <p:cNvPr id="18" name="Text 13"/>
          <p:cNvSpPr/>
          <p:nvPr/>
        </p:nvSpPr>
        <p:spPr>
          <a:xfrm>
            <a:off x="7579360" y="2613661"/>
            <a:ext cx="149352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Cruza contorno con alimento y aplica el método del plato balanceado por grado.</a:t>
            </a:r>
            <a:endParaRPr lang="en-US" sz="1200" dirty="0"/>
          </a:p>
        </p:txBody>
      </p:sp>
      <p:pic>
        <p:nvPicPr>
          <p:cNvPr id="19" name="Image 3" descr="connector">    </p:cNvPr>
          <p:cNvPicPr>
            <a:picLocks noChangeAspect="1"/>
          </p:cNvPicPr>
          <p:nvPr/>
        </p:nvPicPr>
        <p:blipFill>
          <a:blip r:embed="rId4"/>
          <a:srcRect l="0" r="0" t="0" b="0"/>
          <a:stretch/>
        </p:blipFill>
        <p:spPr>
          <a:xfrm>
            <a:off x="9276080" y="2929889"/>
            <a:ext cx="254000" cy="127000"/>
          </a:xfrm>
          <a:prstGeom prst="rect">
            <a:avLst/>
          </a:prstGeom>
        </p:spPr>
      </p:pic>
      <p:sp>
        <p:nvSpPr>
          <p:cNvPr id="20" name="Shape 14"/>
          <p:cNvSpPr/>
          <p:nvPr/>
        </p:nvSpPr>
        <p:spPr>
          <a:xfrm>
            <a:off x="9631680" y="2235200"/>
            <a:ext cx="1747520" cy="1516380"/>
          </a:xfrm>
          <a:prstGeom prst="roundRect">
            <a:avLst>
              <a:gd name="adj" fmla="val 8375"/>
            </a:avLst>
          </a:prstGeom>
          <a:solidFill>
            <a:srgbClr val="DFF8EE"/>
          </a:solidFill>
          <a:ln/>
        </p:spPr>
      </p:sp>
      <p:sp>
        <p:nvSpPr>
          <p:cNvPr id="21" name="Text 15"/>
          <p:cNvSpPr/>
          <p:nvPr/>
        </p:nvSpPr>
        <p:spPr>
          <a:xfrm>
            <a:off x="9784080" y="2413000"/>
            <a:ext cx="14935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A676"/>
                </a:solidFill>
                <a:latin typeface="Fredoka" pitchFamily="34" charset="0"/>
                <a:ea typeface="Fredoka" pitchFamily="34" charset="-122"/>
                <a:cs typeface="Fredoka" pitchFamily="34" charset="-120"/>
              </a:rPr>
              <a:t>5 · Explica</a:t>
            </a:r>
            <a:endParaRPr lang="en-US" sz="1600" dirty="0"/>
          </a:p>
        </p:txBody>
      </p:sp>
      <p:sp>
        <p:nvSpPr>
          <p:cNvPr id="22" name="Text 16"/>
          <p:cNvSpPr/>
          <p:nvPr/>
        </p:nvSpPr>
        <p:spPr>
          <a:xfrm>
            <a:off x="9784080" y="2720339"/>
            <a:ext cx="149352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Semáforo, nombre, una razón y la foto con cada alimento coloreado por grupo.</a:t>
            </a:r>
            <a:endParaRPr lang="en-US" sz="1200" dirty="0"/>
          </a:p>
        </p:txBody>
      </p:sp>
      <p:sp>
        <p:nvSpPr>
          <p:cNvPr id="23" name="Shape 17"/>
          <p:cNvSpPr/>
          <p:nvPr/>
        </p:nvSpPr>
        <p:spPr>
          <a:xfrm>
            <a:off x="819150" y="4199889"/>
            <a:ext cx="3390900" cy="1450340"/>
          </a:xfrm>
          <a:prstGeom prst="roundRect">
            <a:avLst>
              <a:gd name="adj" fmla="val 8319"/>
            </a:avLst>
          </a:prstGeom>
          <a:noFill/>
          <a:ln w="12700">
            <a:solidFill>
              <a:srgbClr val="E6E2F5"/>
            </a:solidFill>
            <a:prstDash val="solid"/>
          </a:ln>
        </p:spPr>
      </p:sp>
      <p:sp>
        <p:nvSpPr>
          <p:cNvPr id="24" name="Text 18"/>
          <p:cNvSpPr/>
          <p:nvPr/>
        </p:nvSpPr>
        <p:spPr>
          <a:xfrm>
            <a:off x="1003300" y="4358639"/>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A3D"/>
                </a:solidFill>
                <a:latin typeface="Fredoka" pitchFamily="34" charset="0"/>
                <a:ea typeface="Fredoka" pitchFamily="34" charset="-122"/>
                <a:cs typeface="Fredoka" pitchFamily="34" charset="-120"/>
              </a:rPr>
              <a:t>Sin instalar nada</a:t>
            </a:r>
            <a:endParaRPr lang="en-US" sz="1500" dirty="0"/>
          </a:p>
        </p:txBody>
      </p:sp>
      <p:sp>
        <p:nvSpPr>
          <p:cNvPr id="25" name="Text 19"/>
          <p:cNvSpPr/>
          <p:nvPr/>
        </p:nvSpPr>
        <p:spPr>
          <a:xfrm>
            <a:off x="1003300" y="4638039"/>
            <a:ext cx="311327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App web (FastAPI + navegador). Celular de la docente o PC con webcam. Un servidor de 12 USD/mes con HTTPS.</a:t>
            </a:r>
            <a:endParaRPr lang="en-US" sz="1200" dirty="0"/>
          </a:p>
        </p:txBody>
      </p:sp>
      <p:sp>
        <p:nvSpPr>
          <p:cNvPr id="26" name="Shape 20"/>
          <p:cNvSpPr/>
          <p:nvPr/>
        </p:nvSpPr>
        <p:spPr>
          <a:xfrm>
            <a:off x="4400550" y="4199889"/>
            <a:ext cx="3390900" cy="1450340"/>
          </a:xfrm>
          <a:prstGeom prst="roundRect">
            <a:avLst>
              <a:gd name="adj" fmla="val 8319"/>
            </a:avLst>
          </a:prstGeom>
          <a:noFill/>
          <a:ln w="12700">
            <a:solidFill>
              <a:srgbClr val="E6E2F5"/>
            </a:solidFill>
            <a:prstDash val="solid"/>
          </a:ln>
        </p:spPr>
      </p:sp>
      <p:sp>
        <p:nvSpPr>
          <p:cNvPr id="27" name="Text 21"/>
          <p:cNvSpPr/>
          <p:nvPr/>
        </p:nvSpPr>
        <p:spPr>
          <a:xfrm>
            <a:off x="4584700" y="4358639"/>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A3D"/>
                </a:solidFill>
                <a:latin typeface="Fredoka" pitchFamily="34" charset="0"/>
                <a:ea typeface="Fredoka" pitchFamily="34" charset="-122"/>
                <a:cs typeface="Fredoka" pitchFamily="34" charset="-120"/>
              </a:rPr>
              <a:t>Aprende del piloto</a:t>
            </a:r>
            <a:endParaRPr lang="en-US" sz="1500" dirty="0"/>
          </a:p>
        </p:txBody>
      </p:sp>
      <p:sp>
        <p:nvSpPr>
          <p:cNvPr id="28" name="Text 22"/>
          <p:cNvSpPr/>
          <p:nvPr/>
        </p:nvSpPr>
        <p:spPr>
          <a:xfrm>
            <a:off x="4584700" y="4638039"/>
            <a:ext cx="3113278"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Cada corrección de la docente es una etiqueta humana. Fase 2: modelo propio YOLO-seg entrenado con las bandejas de Neiva, sin internet.</a:t>
            </a:r>
            <a:endParaRPr lang="en-US" sz="1200" dirty="0"/>
          </a:p>
        </p:txBody>
      </p:sp>
      <p:sp>
        <p:nvSpPr>
          <p:cNvPr id="29" name="Shape 23"/>
          <p:cNvSpPr/>
          <p:nvPr/>
        </p:nvSpPr>
        <p:spPr>
          <a:xfrm>
            <a:off x="7981950" y="4199889"/>
            <a:ext cx="3390900" cy="1450340"/>
          </a:xfrm>
          <a:prstGeom prst="roundRect">
            <a:avLst>
              <a:gd name="adj" fmla="val 8319"/>
            </a:avLst>
          </a:prstGeom>
          <a:noFill/>
          <a:ln w="12700">
            <a:solidFill>
              <a:srgbClr val="E6E2F5"/>
            </a:solidFill>
            <a:prstDash val="solid"/>
          </a:ln>
        </p:spPr>
      </p:sp>
      <p:sp>
        <p:nvSpPr>
          <p:cNvPr id="30" name="Text 24"/>
          <p:cNvSpPr/>
          <p:nvPr/>
        </p:nvSpPr>
        <p:spPr>
          <a:xfrm>
            <a:off x="8166100" y="4358639"/>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A3D"/>
                </a:solidFill>
                <a:latin typeface="Fredoka" pitchFamily="34" charset="0"/>
                <a:ea typeface="Fredoka" pitchFamily="34" charset="-122"/>
                <a:cs typeface="Fredoka" pitchFamily="34" charset="-120"/>
              </a:rPr>
              <a:t>Límites que conocemos</a:t>
            </a:r>
            <a:endParaRPr lang="en-US" sz="1500" dirty="0"/>
          </a:p>
        </p:txBody>
      </p:sp>
      <p:sp>
        <p:nvSpPr>
          <p:cNvPr id="31" name="Text 25"/>
          <p:cNvSpPr/>
          <p:nvPr/>
        </p:nvSpPr>
        <p:spPr>
          <a:xfrm>
            <a:off x="8166100" y="4638039"/>
            <a:ext cx="311327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Gramos con error estimado de ±15 a 20 %. Sopas por nivel del recipiente. Umbrales a validar con la nutricionista.</a:t>
            </a:r>
            <a:endParaRPr lang="en-US" sz="1200" dirty="0"/>
          </a:p>
        </p:txBody>
      </p:sp>
      <p:sp>
        <p:nvSpPr>
          <p:cNvPr id="32" name="Text 26"/>
          <p:cNvSpPr/>
          <p:nvPr/>
        </p:nvSpPr>
        <p:spPr>
          <a:xfrm>
            <a:off x="812800" y="6238239"/>
            <a:ext cx="108855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Métricas a reportar en el piloto: exactitud del semáforo frente a la nutricionista, error de gramaje frente a pesaje, tasa de correcciones.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A3D"/>
        </a:solidFill>
      </p:bgPr>
    </p:bg>
    <p:spTree>
      <p:nvGrpSpPr>
        <p:cNvPr id="1" name=""/>
        <p:cNvGrpSpPr/>
        <p:nvPr/>
      </p:nvGrpSpPr>
      <p:grpSpPr>
        <a:xfrm>
          <a:off x="0" y="0"/>
          <a:ext cx="0" cy="0"/>
          <a:chOff x="0" y="0"/>
          <a:chExt cx="0" cy="0"/>
        </a:xfrm>
      </p:grpSpPr>
      <p:sp>
        <p:nvSpPr>
          <p:cNvPr id="2" name="Text 0"/>
          <p:cNvSpPr/>
          <p:nvPr/>
        </p:nvSpPr>
        <p:spPr>
          <a:xfrm>
            <a:off x="812800" y="812800"/>
            <a:ext cx="10883392" cy="260985"/>
          </a:xfrm>
          <a:prstGeom prst="rect">
            <a:avLst/>
          </a:prstGeom>
          <a:noFill/>
          <a:ln/>
        </p:spPr>
        <p:txBody>
          <a:bodyPr wrap="square" lIns="0" tIns="0" rIns="0" bIns="0" rtlCol="0" anchor="t">
            <a:normAutofit/>
          </a:bodyPr>
          <a:lstStyle/>
          <a:p>
            <a:pPr algn="l" indent="0" marL="0">
              <a:lnSpc>
                <a:spcPts val="1868"/>
              </a:lnSpc>
              <a:buNone/>
            </a:pPr>
            <a:r>
              <a:rPr lang="en-US" sz="1334" b="1" spc="200" kern="0" dirty="0">
                <a:solidFill>
                  <a:srgbClr val="FAC344"/>
                </a:solidFill>
                <a:latin typeface="Nunito" pitchFamily="34" charset="0"/>
                <a:ea typeface="Nunito" pitchFamily="34" charset="-122"/>
                <a:cs typeface="Nunito" pitchFamily="34" charset="-120"/>
              </a:rPr>
              <a:t>TÉCNICO · IA RESPONSABLE</a:t>
            </a:r>
            <a:endParaRPr lang="en-US" sz="1334" dirty="0"/>
          </a:p>
        </p:txBody>
      </p:sp>
      <p:sp>
        <p:nvSpPr>
          <p:cNvPr id="3" name="Text 1"/>
          <p:cNvSpPr/>
          <p:nvPr>
            <p:ph type="title"/>
          </p:nvPr>
        </p:nvSpPr>
        <p:spPr>
          <a:xfrm>
            <a:off x="812800" y="1276986"/>
            <a:ext cx="10464800" cy="977582"/>
          </a:xfrm>
          <a:prstGeom prst="rect">
            <a:avLst/>
          </a:prstGeom>
          <a:noFill/>
          <a:ln/>
        </p:spPr>
        <p:txBody>
          <a:bodyPr wrap="square" lIns="0" tIns="0" rIns="0" bIns="0" rtlCol="0" anchor="t">
            <a:normAutofit/>
          </a:bodyPr>
          <a:lstStyle/>
          <a:p>
            <a:pPr algn="l" indent="0" marL="0">
              <a:lnSpc>
                <a:spcPts val="3762"/>
              </a:lnSpc>
              <a:buNone/>
            </a:pPr>
            <a:r>
              <a:rPr lang="en-US" sz="3420" b="1" i="0" dirty="0">
                <a:solidFill>
                  <a:srgbClr val="FBFAFF"/>
                </a:solidFill>
                <a:latin typeface="Fredoka" pitchFamily="34" charset="0"/>
                <a:ea typeface="Fredoka" pitchFamily="34" charset="-122"/>
                <a:cs typeface="Fredoka" pitchFamily="34" charset="-120"/>
              </a:rPr>
              <a:t>Sí guardamos datos de menores. Por eso lo decimos y lo protegemos.</a:t>
            </a:r>
            <a:endParaRPr lang="en-US" sz="3420" dirty="0"/>
          </a:p>
        </p:txBody>
      </p:sp>
      <p:sp>
        <p:nvSpPr>
          <p:cNvPr id="4" name="Shape 2"/>
          <p:cNvSpPr/>
          <p:nvPr/>
        </p:nvSpPr>
        <p:spPr>
          <a:xfrm>
            <a:off x="812800" y="2457766"/>
            <a:ext cx="3420533" cy="1696720"/>
          </a:xfrm>
          <a:prstGeom prst="roundRect">
            <a:avLst>
              <a:gd name="adj" fmla="val 7485"/>
            </a:avLst>
          </a:prstGeom>
          <a:solidFill>
            <a:srgbClr val="2B2452"/>
          </a:solidFill>
          <a:ln/>
        </p:spPr>
      </p:sp>
      <p:pic>
        <p:nvPicPr>
          <p:cNvPr id="5" name="Image 0" descr="Verified">    </p:cNvPr>
          <p:cNvPicPr>
            <a:picLocks noChangeAspect="1"/>
          </p:cNvPicPr>
          <p:nvPr/>
        </p:nvPicPr>
        <p:blipFill>
          <a:blip r:embed="rId1"/>
          <a:srcRect l="0" r="0" t="0" b="0"/>
          <a:stretch/>
        </p:blipFill>
        <p:spPr>
          <a:xfrm>
            <a:off x="1016000" y="2635566"/>
            <a:ext cx="304800" cy="304800"/>
          </a:xfrm>
          <a:prstGeom prst="rect">
            <a:avLst/>
          </a:prstGeom>
        </p:spPr>
      </p:pic>
      <p:sp>
        <p:nvSpPr>
          <p:cNvPr id="6" name="Text 3"/>
          <p:cNvSpPr/>
          <p:nvPr/>
        </p:nvSpPr>
        <p:spPr>
          <a:xfrm>
            <a:off x="1016000" y="3016566"/>
            <a:ext cx="31045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AFF"/>
                </a:solidFill>
                <a:latin typeface="Fredoka" pitchFamily="34" charset="0"/>
                <a:ea typeface="Fredoka" pitchFamily="34" charset="-122"/>
                <a:cs typeface="Fredoka" pitchFamily="34" charset="-120"/>
              </a:rPr>
              <a:t>Consentimiento primero</a:t>
            </a:r>
            <a:endParaRPr lang="en-US" sz="1600" dirty="0"/>
          </a:p>
        </p:txBody>
      </p:sp>
      <p:sp>
        <p:nvSpPr>
          <p:cNvPr id="7" name="Text 4"/>
          <p:cNvSpPr/>
          <p:nvPr/>
        </p:nvSpPr>
        <p:spPr>
          <a:xfrm>
            <a:off x="1016000" y="3336609"/>
            <a:ext cx="310455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9E6"/>
                </a:solidFill>
                <a:latin typeface="Nunito" pitchFamily="34" charset="0"/>
                <a:ea typeface="Nunito" pitchFamily="34" charset="-122"/>
                <a:cs typeface="Nunito" pitchFamily="34" charset="-120"/>
              </a:rPr>
              <a:t>Sin consentimiento de la familia el niño recibe su veredicto, pero nada queda a su nombre ni se le da tarjeta.</a:t>
            </a:r>
            <a:endParaRPr lang="en-US" sz="1200" dirty="0"/>
          </a:p>
        </p:txBody>
      </p:sp>
      <p:sp>
        <p:nvSpPr>
          <p:cNvPr id="8" name="Shape 5"/>
          <p:cNvSpPr/>
          <p:nvPr/>
        </p:nvSpPr>
        <p:spPr>
          <a:xfrm>
            <a:off x="4385733" y="2457766"/>
            <a:ext cx="3420533" cy="1696720"/>
          </a:xfrm>
          <a:prstGeom prst="roundRect">
            <a:avLst>
              <a:gd name="adj" fmla="val 7485"/>
            </a:avLst>
          </a:prstGeom>
          <a:solidFill>
            <a:srgbClr val="2B2452"/>
          </a:solidFill>
          <a:ln/>
        </p:spPr>
      </p:sp>
      <p:pic>
        <p:nvPicPr>
          <p:cNvPr id="9" name="Image 1" descr="Key">    </p:cNvPr>
          <p:cNvPicPr>
            <a:picLocks noChangeAspect="1"/>
          </p:cNvPicPr>
          <p:nvPr/>
        </p:nvPicPr>
        <p:blipFill>
          <a:blip r:embed="rId2"/>
          <a:srcRect l="0" r="0" t="0" b="0"/>
          <a:stretch/>
        </p:blipFill>
        <p:spPr>
          <a:xfrm>
            <a:off x="4588933" y="2635566"/>
            <a:ext cx="304800" cy="304800"/>
          </a:xfrm>
          <a:prstGeom prst="rect">
            <a:avLst/>
          </a:prstGeom>
        </p:spPr>
      </p:pic>
      <p:sp>
        <p:nvSpPr>
          <p:cNvPr id="10" name="Text 6"/>
          <p:cNvSpPr/>
          <p:nvPr/>
        </p:nvSpPr>
        <p:spPr>
          <a:xfrm>
            <a:off x="4588933" y="3016566"/>
            <a:ext cx="31045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AFF"/>
                </a:solidFill>
                <a:latin typeface="Fredoka" pitchFamily="34" charset="0"/>
                <a:ea typeface="Fredoka" pitchFamily="34" charset="-122"/>
                <a:cs typeface="Fredoka" pitchFamily="34" charset="-120"/>
              </a:rPr>
              <a:t>La tarjeta solo lleva un código</a:t>
            </a:r>
            <a:endParaRPr lang="en-US" sz="1600" dirty="0"/>
          </a:p>
        </p:txBody>
      </p:sp>
      <p:sp>
        <p:nvSpPr>
          <p:cNvPr id="11" name="Text 7"/>
          <p:cNvSpPr/>
          <p:nvPr/>
        </p:nvSpPr>
        <p:spPr>
          <a:xfrm>
            <a:off x="4588933" y="3336609"/>
            <a:ext cx="310455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9E6"/>
                </a:solidFill>
                <a:latin typeface="Nunito" pitchFamily="34" charset="0"/>
                <a:ea typeface="Nunito" pitchFamily="34" charset="-122"/>
                <a:cs typeface="Nunito" pitchFamily="34" charset="-120"/>
              </a:rPr>
              <a:t>Ningún nombre ni documento en el QR. El documento de identidad se guarda como huella irreversible.</a:t>
            </a:r>
            <a:endParaRPr lang="en-US" sz="1200" dirty="0"/>
          </a:p>
        </p:txBody>
      </p:sp>
      <p:sp>
        <p:nvSpPr>
          <p:cNvPr id="12" name="Shape 8"/>
          <p:cNvSpPr/>
          <p:nvPr/>
        </p:nvSpPr>
        <p:spPr>
          <a:xfrm>
            <a:off x="7958667" y="2457766"/>
            <a:ext cx="3420533" cy="1696720"/>
          </a:xfrm>
          <a:prstGeom prst="roundRect">
            <a:avLst>
              <a:gd name="adj" fmla="val 7485"/>
            </a:avLst>
          </a:prstGeom>
          <a:solidFill>
            <a:srgbClr val="2B2452"/>
          </a:solidFill>
          <a:ln/>
        </p:spPr>
      </p:sp>
      <p:pic>
        <p:nvPicPr>
          <p:cNvPr id="13" name="Image 2" descr="Lock">    </p:cNvPr>
          <p:cNvPicPr>
            <a:picLocks noChangeAspect="1"/>
          </p:cNvPicPr>
          <p:nvPr/>
        </p:nvPicPr>
        <p:blipFill>
          <a:blip r:embed="rId3"/>
          <a:srcRect l="0" r="0" t="0" b="0"/>
          <a:stretch/>
        </p:blipFill>
        <p:spPr>
          <a:xfrm>
            <a:off x="8161867" y="2635566"/>
            <a:ext cx="304800" cy="304800"/>
          </a:xfrm>
          <a:prstGeom prst="rect">
            <a:avLst/>
          </a:prstGeom>
        </p:spPr>
      </p:pic>
      <p:sp>
        <p:nvSpPr>
          <p:cNvPr id="14" name="Text 9"/>
          <p:cNvSpPr/>
          <p:nvPr/>
        </p:nvSpPr>
        <p:spPr>
          <a:xfrm>
            <a:off x="8161867" y="3016566"/>
            <a:ext cx="31045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AFF"/>
                </a:solidFill>
                <a:latin typeface="Fredoka" pitchFamily="34" charset="0"/>
                <a:ea typeface="Fredoka" pitchFamily="34" charset="-122"/>
                <a:cs typeface="Fredoka" pitchFamily="34" charset="-120"/>
              </a:rPr>
              <a:t>Solo la bandeja</a:t>
            </a:r>
            <a:endParaRPr lang="en-US" sz="1600" dirty="0"/>
          </a:p>
        </p:txBody>
      </p:sp>
      <p:sp>
        <p:nvSpPr>
          <p:cNvPr id="15" name="Text 10"/>
          <p:cNvSpPr/>
          <p:nvPr/>
        </p:nvSpPr>
        <p:spPr>
          <a:xfrm>
            <a:off x="8161867" y="3336609"/>
            <a:ext cx="310455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9E6"/>
                </a:solidFill>
                <a:latin typeface="Nunito" pitchFamily="34" charset="0"/>
                <a:ea typeface="Nunito" pitchFamily="34" charset="-122"/>
                <a:cs typeface="Nunito" pitchFamily="34" charset="-120"/>
              </a:rPr>
              <a:t>Cámara cenital al plato. Si aparece una persona, la toma se descarta y no se guarda.</a:t>
            </a:r>
            <a:endParaRPr lang="en-US" sz="1200" dirty="0"/>
          </a:p>
        </p:txBody>
      </p:sp>
      <p:sp>
        <p:nvSpPr>
          <p:cNvPr id="16" name="Shape 11"/>
          <p:cNvSpPr/>
          <p:nvPr/>
        </p:nvSpPr>
        <p:spPr>
          <a:xfrm>
            <a:off x="812800" y="4306888"/>
            <a:ext cx="3420533" cy="1738313"/>
          </a:xfrm>
          <a:prstGeom prst="roundRect">
            <a:avLst>
              <a:gd name="adj" fmla="val 7306"/>
            </a:avLst>
          </a:prstGeom>
          <a:solidFill>
            <a:srgbClr val="2B2452"/>
          </a:solidFill>
          <a:ln/>
        </p:spPr>
      </p:sp>
      <p:pic>
        <p:nvPicPr>
          <p:cNvPr id="17" name="Image 3" descr="Clock">    </p:cNvPr>
          <p:cNvPicPr>
            <a:picLocks noChangeAspect="1"/>
          </p:cNvPicPr>
          <p:nvPr/>
        </p:nvPicPr>
        <p:blipFill>
          <a:blip r:embed="rId4"/>
          <a:srcRect l="0" r="0" t="-264" b="-264"/>
          <a:stretch/>
        </p:blipFill>
        <p:spPr>
          <a:xfrm>
            <a:off x="1016000" y="4484688"/>
            <a:ext cx="304800" cy="261726"/>
          </a:xfrm>
          <a:prstGeom prst="rect">
            <a:avLst/>
          </a:prstGeom>
        </p:spPr>
      </p:pic>
      <p:sp>
        <p:nvSpPr>
          <p:cNvPr id="18" name="Text 12"/>
          <p:cNvSpPr/>
          <p:nvPr/>
        </p:nvSpPr>
        <p:spPr>
          <a:xfrm>
            <a:off x="1016000" y="4822614"/>
            <a:ext cx="3104557" cy="444288"/>
          </a:xfrm>
          <a:prstGeom prst="rect">
            <a:avLst/>
          </a:prstGeom>
          <a:noFill/>
          <a:ln/>
        </p:spPr>
        <p:txBody>
          <a:bodyPr wrap="square" lIns="0" tIns="0" rIns="0" bIns="0" rtlCol="0" anchor="t">
            <a:normAutofit/>
          </a:bodyPr>
          <a:lstStyle/>
          <a:p>
            <a:pPr algn="l" indent="0" marL="0">
              <a:lnSpc>
                <a:spcPts val="1662"/>
              </a:lnSpc>
              <a:buNone/>
            </a:pPr>
            <a:r>
              <a:rPr lang="en-US" sz="1385" b="1" dirty="0">
                <a:solidFill>
                  <a:srgbClr val="FBFAFF"/>
                </a:solidFill>
                <a:latin typeface="Fredoka" pitchFamily="34" charset="0"/>
                <a:ea typeface="Fredoka" pitchFamily="34" charset="-122"/>
                <a:cs typeface="Fredoka" pitchFamily="34" charset="-120"/>
              </a:rPr>
              <a:t>Fotos pequeñas y con fecha de borrado</a:t>
            </a:r>
            <a:endParaRPr lang="en-US" sz="1385" dirty="0"/>
          </a:p>
        </p:txBody>
      </p:sp>
      <p:sp>
        <p:nvSpPr>
          <p:cNvPr id="19" name="Text 13"/>
          <p:cNvSpPr/>
          <p:nvPr/>
        </p:nvSpPr>
        <p:spPr>
          <a:xfrm>
            <a:off x="1016000" y="5317703"/>
            <a:ext cx="3104557" cy="575098"/>
          </a:xfrm>
          <a:prstGeom prst="rect">
            <a:avLst/>
          </a:prstGeom>
          <a:noFill/>
          <a:ln/>
        </p:spPr>
        <p:txBody>
          <a:bodyPr wrap="square" lIns="0" tIns="0" rIns="0" bIns="0" rtlCol="0" anchor="t">
            <a:normAutofit/>
          </a:bodyPr>
          <a:lstStyle/>
          <a:p>
            <a:pPr algn="l" indent="0" marL="0">
              <a:lnSpc>
                <a:spcPts val="1454"/>
              </a:lnSpc>
              <a:buNone/>
            </a:pPr>
            <a:r>
              <a:rPr lang="en-US" sz="1039" dirty="0">
                <a:solidFill>
                  <a:srgbClr val="CFC9E6"/>
                </a:solidFill>
                <a:latin typeface="Nunito" pitchFamily="34" charset="0"/>
                <a:ea typeface="Nunito" pitchFamily="34" charset="-122"/>
                <a:cs typeface="Nunito" pitchFamily="34" charset="-120"/>
              </a:rPr>
              <a:t>Reducidas a 1024 px, borradas al cerrar el año escolar. Muestra de entrenamiento limitada a 50 bandejas por día y sede.</a:t>
            </a:r>
            <a:endParaRPr lang="en-US" sz="1039" dirty="0"/>
          </a:p>
        </p:txBody>
      </p:sp>
      <p:sp>
        <p:nvSpPr>
          <p:cNvPr id="20" name="Shape 14"/>
          <p:cNvSpPr/>
          <p:nvPr/>
        </p:nvSpPr>
        <p:spPr>
          <a:xfrm>
            <a:off x="4385733" y="4306888"/>
            <a:ext cx="3420533" cy="1738313"/>
          </a:xfrm>
          <a:prstGeom prst="roundRect">
            <a:avLst>
              <a:gd name="adj" fmla="val 7306"/>
            </a:avLst>
          </a:prstGeom>
          <a:solidFill>
            <a:srgbClr val="2B2452"/>
          </a:solidFill>
          <a:ln/>
        </p:spPr>
      </p:sp>
      <p:pic>
        <p:nvPicPr>
          <p:cNvPr id="21" name="Image 4" descr="Users">    </p:cNvPr>
          <p:cNvPicPr>
            <a:picLocks noChangeAspect="1"/>
          </p:cNvPicPr>
          <p:nvPr/>
        </p:nvPicPr>
        <p:blipFill>
          <a:blip r:embed="rId5"/>
          <a:srcRect l="0" r="0" t="0" b="0"/>
          <a:stretch/>
        </p:blipFill>
        <p:spPr>
          <a:xfrm>
            <a:off x="4588933" y="4484688"/>
            <a:ext cx="304800" cy="304800"/>
          </a:xfrm>
          <a:prstGeom prst="rect">
            <a:avLst/>
          </a:prstGeom>
        </p:spPr>
      </p:pic>
      <p:sp>
        <p:nvSpPr>
          <p:cNvPr id="22" name="Text 15"/>
          <p:cNvSpPr/>
          <p:nvPr/>
        </p:nvSpPr>
        <p:spPr>
          <a:xfrm>
            <a:off x="4588933" y="4865688"/>
            <a:ext cx="310455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AFF"/>
                </a:solidFill>
                <a:latin typeface="Fredoka" pitchFamily="34" charset="0"/>
                <a:ea typeface="Fredoka" pitchFamily="34" charset="-122"/>
                <a:cs typeface="Fredoka" pitchFamily="34" charset="-120"/>
              </a:rPr>
              <a:t>Acceso por usuario y sede</a:t>
            </a:r>
            <a:endParaRPr lang="en-US" sz="1600" dirty="0"/>
          </a:p>
        </p:txBody>
      </p:sp>
      <p:sp>
        <p:nvSpPr>
          <p:cNvPr id="23" name="Text 16"/>
          <p:cNvSpPr/>
          <p:nvPr/>
        </p:nvSpPr>
        <p:spPr>
          <a:xfrm>
            <a:off x="4588933" y="5185730"/>
            <a:ext cx="310455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9E6"/>
                </a:solidFill>
                <a:latin typeface="Nunito" pitchFamily="34" charset="0"/>
                <a:ea typeface="Nunito" pitchFamily="34" charset="-122"/>
                <a:cs typeface="Nunito" pitchFamily="34" charset="-120"/>
              </a:rPr>
              <a:t>Cada docente ve solo su sede. Queda registro de quién consulta un historial o genera un informe.</a:t>
            </a:r>
            <a:endParaRPr lang="en-US" sz="1200" dirty="0"/>
          </a:p>
        </p:txBody>
      </p:sp>
      <p:sp>
        <p:nvSpPr>
          <p:cNvPr id="24" name="Shape 17"/>
          <p:cNvSpPr/>
          <p:nvPr/>
        </p:nvSpPr>
        <p:spPr>
          <a:xfrm>
            <a:off x="7958667" y="4306888"/>
            <a:ext cx="3420533" cy="1738313"/>
          </a:xfrm>
          <a:prstGeom prst="roundRect">
            <a:avLst>
              <a:gd name="adj" fmla="val 7306"/>
            </a:avLst>
          </a:prstGeom>
          <a:solidFill>
            <a:srgbClr val="2B2452"/>
          </a:solidFill>
          <a:ln/>
        </p:spPr>
      </p:sp>
      <p:pic>
        <p:nvPicPr>
          <p:cNvPr id="25" name="Image 5" descr="Book">    </p:cNvPr>
          <p:cNvPicPr>
            <a:picLocks noChangeAspect="1"/>
          </p:cNvPicPr>
          <p:nvPr/>
        </p:nvPicPr>
        <p:blipFill>
          <a:blip r:embed="rId6"/>
          <a:srcRect l="0" r="0" t="-139" b="-139"/>
          <a:stretch/>
        </p:blipFill>
        <p:spPr>
          <a:xfrm>
            <a:off x="8161867" y="4484688"/>
            <a:ext cx="304800" cy="267441"/>
          </a:xfrm>
          <a:prstGeom prst="rect">
            <a:avLst/>
          </a:prstGeom>
        </p:spPr>
      </p:pic>
      <p:sp>
        <p:nvSpPr>
          <p:cNvPr id="26" name="Text 18"/>
          <p:cNvSpPr/>
          <p:nvPr/>
        </p:nvSpPr>
        <p:spPr>
          <a:xfrm>
            <a:off x="8161867" y="4828325"/>
            <a:ext cx="3104557" cy="239395"/>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FBFAFF"/>
                </a:solidFill>
                <a:latin typeface="Fredoka" pitchFamily="34" charset="0"/>
                <a:ea typeface="Fredoka" pitchFamily="34" charset="-122"/>
                <a:cs typeface="Fredoka" pitchFamily="34" charset="-120"/>
              </a:rPr>
              <a:t>Marco legal y explicabilidad</a:t>
            </a:r>
            <a:endParaRPr lang="en-US" sz="1435" dirty="0"/>
          </a:p>
        </p:txBody>
      </p:sp>
      <p:sp>
        <p:nvSpPr>
          <p:cNvPr id="27" name="Text 19"/>
          <p:cNvSpPr/>
          <p:nvPr/>
        </p:nvSpPr>
        <p:spPr>
          <a:xfrm>
            <a:off x="8161867" y="5118522"/>
            <a:ext cx="3104557" cy="774277"/>
          </a:xfrm>
          <a:prstGeom prst="rect">
            <a:avLst/>
          </a:prstGeom>
          <a:noFill/>
          <a:ln/>
        </p:spPr>
        <p:txBody>
          <a:bodyPr wrap="square" lIns="0" tIns="0" rIns="0" bIns="0" rtlCol="0" anchor="t">
            <a:normAutofit/>
          </a:bodyPr>
          <a:lstStyle/>
          <a:p>
            <a:pPr algn="l" indent="0" marL="0">
              <a:lnSpc>
                <a:spcPts val="1638"/>
              </a:lnSpc>
              <a:buNone/>
            </a:pPr>
            <a:r>
              <a:rPr lang="en-US" sz="1170" dirty="0">
                <a:solidFill>
                  <a:srgbClr val="CFC9E6"/>
                </a:solidFill>
                <a:latin typeface="Nunito" pitchFamily="34" charset="0"/>
                <a:ea typeface="Nunito" pitchFamily="34" charset="-122"/>
                <a:cs typeface="Nunito" pitchFamily="34" charset="-120"/>
              </a:rPr>
              <a:t>Ley 1581 de 2012 y protección reforzada de menores. Cada veredicto da una razón; la docente ve alimento, grupo, gramos y estado.</a:t>
            </a:r>
            <a:endParaRPr lang="en-US" sz="11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5797"/>
          </a:xfrm>
          <a:prstGeom prst="rect">
            <a:avLst/>
          </a:prstGeom>
          <a:noFill/>
          <a:ln/>
        </p:spPr>
        <p:txBody>
          <a:bodyPr wrap="square" lIns="0" tIns="0" rIns="0" bIns="0" rtlCol="0" anchor="t">
            <a:normAutofit/>
          </a:bodyPr>
          <a:lstStyle/>
          <a:p>
            <a:pPr algn="l" indent="0" marL="0">
              <a:lnSpc>
                <a:spcPts val="1672"/>
              </a:lnSpc>
              <a:buNone/>
            </a:pPr>
            <a:r>
              <a:rPr lang="en-US" sz="1194" b="1" spc="200" kern="0" dirty="0">
                <a:solidFill>
                  <a:srgbClr val="4C17C1"/>
                </a:solidFill>
                <a:latin typeface="Nunito" pitchFamily="34" charset="0"/>
                <a:ea typeface="Nunito" pitchFamily="34" charset="-122"/>
                <a:cs typeface="Nunito" pitchFamily="34" charset="-120"/>
              </a:rPr>
              <a:t>DEMOSTRACIÓN EN VIVO</a:t>
            </a:r>
            <a:endParaRPr lang="en-US" sz="1194" dirty="0"/>
          </a:p>
        </p:txBody>
      </p:sp>
      <p:sp>
        <p:nvSpPr>
          <p:cNvPr id="3" name="Text 1"/>
          <p:cNvSpPr/>
          <p:nvPr>
            <p:ph type="title"/>
          </p:nvPr>
        </p:nvSpPr>
        <p:spPr>
          <a:xfrm>
            <a:off x="812800" y="1251800"/>
            <a:ext cx="10464800" cy="450427"/>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F1A3D"/>
                </a:solidFill>
                <a:latin typeface="Fredoka" pitchFamily="34" charset="0"/>
                <a:ea typeface="Fredoka" pitchFamily="34" charset="-122"/>
                <a:cs typeface="Fredoka" pitchFamily="34" charset="-120"/>
              </a:rPr>
              <a:t>Un niño, una bandeja sin verdura, dos minutos</a:t>
            </a:r>
            <a:endParaRPr lang="en-US" sz="3060" dirty="0"/>
          </a:p>
        </p:txBody>
      </p:sp>
      <p:sp>
        <p:nvSpPr>
          <p:cNvPr id="4" name="Shape 2"/>
          <p:cNvSpPr/>
          <p:nvPr/>
        </p:nvSpPr>
        <p:spPr>
          <a:xfrm>
            <a:off x="812800" y="2358814"/>
            <a:ext cx="4064000" cy="2540000"/>
          </a:xfrm>
          <a:prstGeom prst="roundRect">
            <a:avLst>
              <a:gd name="adj" fmla="val 6000"/>
            </a:avLst>
          </a:prstGeom>
          <a:solidFill>
            <a:srgbClr val="1F1A3D"/>
          </a:solidFill>
          <a:ln/>
        </p:spPr>
      </p:sp>
      <p:pic>
        <p:nvPicPr>
          <p:cNvPr id="5" name="Image 0" descr="Pantalla de inicio de la estación NutriPAE: Toca para comenzar">    </p:cNvPr>
          <p:cNvPicPr>
            <a:picLocks noChangeAspect="1"/>
          </p:cNvPicPr>
          <p:nvPr/>
        </p:nvPicPr>
        <p:blipFill>
          <a:blip r:embed="rId1"/>
          <a:srcRect l="0" r="0" t="0" b="0"/>
          <a:stretch/>
        </p:blipFill>
        <p:spPr>
          <a:xfrm>
            <a:off x="812800" y="2358814"/>
            <a:ext cx="4064000" cy="2540000"/>
          </a:xfrm>
          <a:prstGeom prst="roundRect">
            <a:avLst>
              <a:gd name="adj" fmla="val 6000"/>
            </a:avLst>
          </a:prstGeom>
        </p:spPr>
      </p:pic>
      <p:sp>
        <p:nvSpPr>
          <p:cNvPr id="6" name="Shape 3"/>
          <p:cNvSpPr/>
          <p:nvPr/>
        </p:nvSpPr>
        <p:spPr>
          <a:xfrm>
            <a:off x="5130800" y="1589825"/>
            <a:ext cx="6248400" cy="4077970"/>
          </a:xfrm>
          <a:custGeom>
            <a:avLst/>
            <a:gdLst/>
            <a:ahLst/>
            <a:cxnLst/>
            <a:rect l="l" t="t" r="r" b="b"/>
            <a:pathLst>
              <a:path w="6248400" h="4077970">
                <a:moveTo>
                  <a:pt x="6146800" y="0"/>
                </a:moveTo>
                <a:lnTo>
                  <a:pt x="6146800" y="0"/>
                </a:lnTo>
                <a:arcTo hR="101600" wR="101600" stAng="16200000" swAng="5400000"/>
                <a:lnTo>
                  <a:pt x="6248400" y="3976370"/>
                </a:lnTo>
                <a:arcTo hR="101600" wR="101600" stAng="0" swAng="5400000"/>
                <a:lnTo>
                  <a:pt x="101600" y="4077970"/>
                </a:lnTo>
                <a:arcTo hR="101600" wR="101600" stAng="5400000" swAng="5400000"/>
                <a:lnTo>
                  <a:pt x="0" y="3976370"/>
                </a:lnTo>
                <a:arcTo hR="95250" wR="101600" stAng="10800000" swAng="-5400000"/>
                <a:lnTo>
                  <a:pt x="6146800" y="4071620"/>
                </a:lnTo>
                <a:arcTo hR="95250" wR="95250" stAng="5400000" swAng="-5400000"/>
                <a:lnTo>
                  <a:pt x="6242050" y="101600"/>
                </a:lnTo>
                <a:arcTo hR="101600" wR="95250" stAng="0" swAng="-5400000"/>
                <a:close/>
              </a:path>
            </a:pathLst>
          </a:custGeom>
          <a:solidFill>
            <a:srgbClr val="E6E2F5"/>
          </a:solidFill>
          <a:ln/>
        </p:spPr>
      </p:sp>
      <p:sp>
        <p:nvSpPr>
          <p:cNvPr id="7" name="Shape 4"/>
          <p:cNvSpPr/>
          <p:nvPr/>
        </p:nvSpPr>
        <p:spPr>
          <a:xfrm>
            <a:off x="5130800" y="1589825"/>
            <a:ext cx="6248400" cy="4077970"/>
          </a:xfrm>
          <a:custGeom>
            <a:avLst/>
            <a:gdLst/>
            <a:ahLst/>
            <a:cxnLst/>
            <a:rect l="l" t="t" r="r" b="b"/>
            <a:pathLst>
              <a:path w="6248400" h="4077970">
                <a:moveTo>
                  <a:pt x="101600" y="4077970"/>
                </a:moveTo>
                <a:lnTo>
                  <a:pt x="101600" y="4077970"/>
                </a:lnTo>
                <a:arcTo hR="101600" wR="101600" stAng="5400000" swAng="5400000"/>
                <a:lnTo>
                  <a:pt x="0" y="101600"/>
                </a:lnTo>
                <a:arcTo hR="101600" wR="101600" stAng="10800000" swAng="5400000"/>
                <a:lnTo>
                  <a:pt x="6146800" y="0"/>
                </a:lnTo>
                <a:arcTo hR="101600" wR="101600" stAng="16200000" swAng="5400000"/>
                <a:lnTo>
                  <a:pt x="6248400" y="101600"/>
                </a:lnTo>
                <a:arcTo hR="88900" wR="101600" stAng="0" swAng="-5400000"/>
                <a:lnTo>
                  <a:pt x="101600" y="12700"/>
                </a:lnTo>
                <a:arcTo hR="88900" wR="88900" stAng="16200000" swAng="-5400000"/>
                <a:lnTo>
                  <a:pt x="12700" y="3976370"/>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43500" y="1602525"/>
          <a:ext cx="6229350" cy="4058920"/>
        </p:xfrm>
        <a:graphic>
          <a:graphicData uri="http://schemas.openxmlformats.org/drawingml/2006/table">
            <a:tbl>
              <a:tblPr/>
              <a:tblGrid>
                <a:gridCol w="747522"/>
                <a:gridCol w="2990088"/>
                <a:gridCol w="2491740"/>
              </a:tblGrid>
              <a:tr h="386080">
                <a:tc>
                  <a:txBody>
                    <a:bodyPr/>
                    <a:lstStyle/>
                    <a:p>
                      <a:pPr indent="0" marL="0">
                        <a:lnSpc>
                          <a:spcPts val="1960"/>
                        </a:lnSpc>
                        <a:buNone/>
                      </a:pPr>
                      <a:r>
                        <a:rPr lang="en-US" sz="1400" b="1" dirty="0">
                          <a:solidFill>
                            <a:srgbClr val="1F1A3D"/>
                          </a:solidFill>
                          <a:latin typeface="Nunito" pitchFamily="34" charset="0"/>
                          <a:ea typeface="Nunito" pitchFamily="34" charset="-122"/>
                          <a:cs typeface="Nunito" pitchFamily="34" charset="-120"/>
                        </a:rPr>
                        <a:t>Paso</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c>
                  <a:txBody>
                    <a:bodyPr/>
                    <a:lstStyle/>
                    <a:p>
                      <a:pPr indent="0" marL="0">
                        <a:lnSpc>
                          <a:spcPts val="1960"/>
                        </a:lnSpc>
                        <a:buNone/>
                      </a:pPr>
                      <a:r>
                        <a:rPr lang="en-US" sz="1400" b="1" dirty="0">
                          <a:solidFill>
                            <a:srgbClr val="1F1A3D"/>
                          </a:solidFill>
                          <a:latin typeface="Nunito" pitchFamily="34" charset="0"/>
                          <a:ea typeface="Nunito" pitchFamily="34" charset="-122"/>
                          <a:cs typeface="Nunito" pitchFamily="34" charset="-120"/>
                        </a:rPr>
                        <a:t>Qué pasa</a:t>
                      </a:r>
                      <a:endParaRPr lang="en-US" sz="1400" dirty="0">
                        <a:latin typeface="Nunito" charset="0"/>
                        <a:ea typeface="Nunito" charset="0"/>
                        <a:cs typeface="Nunito" charset="0"/>
                      </a:endParaRPr>
                    </a:p>
                  </a:txBody>
                  <a:tcPr marL="62230" marR="62230" marT="62230" marB="6223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c>
                  <a:txBody>
                    <a:bodyPr/>
                    <a:lstStyle/>
                    <a:p>
                      <a:pPr indent="0" marL="0">
                        <a:lnSpc>
                          <a:spcPts val="1960"/>
                        </a:lnSpc>
                        <a:buNone/>
                      </a:pPr>
                      <a:r>
                        <a:rPr lang="en-US" sz="1400" b="1" dirty="0">
                          <a:solidFill>
                            <a:srgbClr val="1F1A3D"/>
                          </a:solidFill>
                          <a:latin typeface="Nunito" pitchFamily="34" charset="0"/>
                          <a:ea typeface="Nunito" pitchFamily="34" charset="-122"/>
                          <a:cs typeface="Nunito" pitchFamily="34" charset="-120"/>
                        </a:rPr>
                        <a:t>Qué ven los jurados</a:t>
                      </a:r>
                      <a:endParaRPr lang="en-US" sz="1400" dirty="0">
                        <a:latin typeface="Nunito" charset="0"/>
                        <a:ea typeface="Nunito" charset="0"/>
                        <a:cs typeface="Nunito" charset="0"/>
                      </a:endParaRPr>
                    </a:p>
                  </a:txBody>
                  <a:tcPr marL="62230" marR="62230" marT="62230" marB="6223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r>
              <a:tr h="635000">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1</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Tarjeta QR junto a una bandeja sin verdura</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Rojo con el nombre: «Te falta verdura…»</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635000">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2</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Se completa el plato y vuelve a la cámara</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Verde: «¡Listo, Juan! Tu plato está balanceado.»</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883920">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3</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La docente corrige un alimento mal nombrado</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El veredicto se rehace; queda como etiqueta humana</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635000">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4</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Pase de lista de un curso, sin tarjetas</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«Turno de …», avanza solo al siguiente</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883920">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5</a:t>
                      </a:r>
                      <a:endParaRPr lang="en-US" sz="1400" dirty="0">
                        <a:latin typeface="Nunito" charset="0"/>
                        <a:ea typeface="Nunito" charset="0"/>
                        <a:cs typeface="Nunito" charset="0"/>
                      </a:endParaRPr>
                    </a:p>
                  </a:txBody>
                  <a:tcPr marL="62230" marR="62230" marT="62230" marB="6223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Excel con consentimiento, tarjetas QR y PDF</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960"/>
                        </a:lnSpc>
                        <a:buNone/>
                      </a:pPr>
                      <a:r>
                        <a:rPr lang="en-US" sz="1400" dirty="0">
                          <a:solidFill>
                            <a:srgbClr val="1F1A3D"/>
                          </a:solidFill>
                          <a:latin typeface="Nunito" pitchFamily="34" charset="0"/>
                          <a:ea typeface="Nunito" pitchFamily="34" charset="-122"/>
                          <a:cs typeface="Nunito" pitchFamily="34" charset="-120"/>
                        </a:rPr>
                        <a:t>Carga en segundos, hoja de tarjetas, informe para la familia</a:t>
                      </a:r>
                      <a:endParaRPr lang="en-US" sz="1400" dirty="0">
                        <a:latin typeface="Nunito" charset="0"/>
                        <a:ea typeface="Nunito" charset="0"/>
                        <a:cs typeface="Nunito" charset="0"/>
                      </a:endParaRPr>
                    </a:p>
                  </a:txBody>
                  <a:tcPr marL="62230" marR="62230" marT="62230" marB="6223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bl>
          </a:graphicData>
        </a:graphic>
      </p:graphicFrame>
      <p:sp>
        <p:nvSpPr>
          <p:cNvPr id="9" name="Text 5"/>
          <p:cNvSpPr/>
          <p:nvPr/>
        </p:nvSpPr>
        <p:spPr>
          <a:xfrm>
            <a:off x="812800" y="5580800"/>
            <a:ext cx="10566400" cy="464397"/>
          </a:xfrm>
          <a:prstGeom prst="roundRect">
            <a:avLst>
              <a:gd name="adj" fmla="val 21878"/>
            </a:avLst>
          </a:prstGeom>
          <a:solidFill>
            <a:srgbClr val="FFF4D6"/>
          </a:solidFill>
          <a:ln/>
        </p:spPr>
        <p:txBody>
          <a:bodyPr wrap="square" lIns="173442" tIns="97242" rIns="0" bIns="71842" rtlCol="0" anchor="t">
            <a:normAutofit/>
          </a:bodyPr>
          <a:lstStyle/>
          <a:p>
            <a:pPr algn="l" indent="0" marL="0">
              <a:lnSpc>
                <a:spcPts val="1672"/>
              </a:lnSpc>
              <a:buNone/>
            </a:pPr>
            <a:r>
              <a:rPr lang="en-US" sz="1194" b="1" dirty="0">
                <a:solidFill>
                  <a:srgbClr val="1F1A3D"/>
                </a:solidFill>
                <a:latin typeface="Nunito" pitchFamily="34" charset="0"/>
                <a:ea typeface="Nunito" pitchFamily="34" charset="-122"/>
                <a:cs typeface="Nunito" pitchFamily="34" charset="-120"/>
              </a:rPr>
              <a:t>Respaldo si falla el internet: «Práctica sin cámara» con un plato simulado. Sus registros no entran a ningún historial.</a:t>
            </a:r>
            <a:endParaRPr lang="en-US" sz="119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E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9927"/>
          </a:xfrm>
          <a:prstGeom prst="rect">
            <a:avLst/>
          </a:prstGeom>
          <a:noFill/>
          <a:ln/>
        </p:spPr>
        <p:txBody>
          <a:bodyPr wrap="square" lIns="0" tIns="0" rIns="0" bIns="0" rtlCol="0" anchor="t">
            <a:normAutofit/>
          </a:bodyPr>
          <a:lstStyle/>
          <a:p>
            <a:pPr algn="l" indent="0" marL="0">
              <a:lnSpc>
                <a:spcPts val="1868"/>
              </a:lnSpc>
              <a:buNone/>
            </a:pPr>
            <a:r>
              <a:rPr lang="en-US" sz="1334" b="1" spc="200" kern="0" dirty="0">
                <a:solidFill>
                  <a:srgbClr val="4C17C1"/>
                </a:solidFill>
                <a:latin typeface="Nunito" pitchFamily="34" charset="0"/>
                <a:ea typeface="Nunito" pitchFamily="34" charset="-122"/>
                <a:cs typeface="Nunito" pitchFamily="34" charset="-120"/>
              </a:rPr>
              <a:t>IMPACTO</a:t>
            </a:r>
            <a:endParaRPr lang="en-US" sz="1334" dirty="0"/>
          </a:p>
        </p:txBody>
      </p:sp>
      <p:sp>
        <p:nvSpPr>
          <p:cNvPr id="3" name="Text 1"/>
          <p:cNvSpPr/>
          <p:nvPr>
            <p:ph type="title"/>
          </p:nvPr>
        </p:nvSpPr>
        <p:spPr>
          <a:xfrm>
            <a:off x="812800" y="1275928"/>
            <a:ext cx="10464800" cy="973243"/>
          </a:xfrm>
          <a:prstGeom prst="rect">
            <a:avLst/>
          </a:prstGeom>
          <a:noFill/>
          <a:ln/>
        </p:spPr>
        <p:txBody>
          <a:bodyPr wrap="square" lIns="0" tIns="0" rIns="0" bIns="0" rtlCol="0" anchor="t">
            <a:normAutofit/>
          </a:bodyPr>
          <a:lstStyle/>
          <a:p>
            <a:pPr algn="l" indent="0" marL="0">
              <a:lnSpc>
                <a:spcPts val="3725"/>
              </a:lnSpc>
              <a:buNone/>
            </a:pPr>
            <a:r>
              <a:rPr lang="en-US" sz="3386" b="1" i="0" dirty="0">
                <a:solidFill>
                  <a:srgbClr val="1F1A3D"/>
                </a:solidFill>
                <a:latin typeface="Fredoka" pitchFamily="34" charset="0"/>
                <a:ea typeface="Fredoka" pitchFamily="34" charset="-122"/>
                <a:cs typeface="Fredoka" pitchFamily="34" charset="-120"/>
              </a:rPr>
              <a:t>Cada plato verificado, cada niño que aprende, cada peso que se justifica</a:t>
            </a:r>
            <a:endParaRPr lang="en-US" sz="3386" dirty="0"/>
          </a:p>
        </p:txBody>
      </p:sp>
      <p:sp>
        <p:nvSpPr>
          <p:cNvPr id="4" name="Shape 2"/>
          <p:cNvSpPr/>
          <p:nvPr/>
        </p:nvSpPr>
        <p:spPr>
          <a:xfrm>
            <a:off x="812800" y="2452371"/>
            <a:ext cx="3403600" cy="1564005"/>
          </a:xfrm>
          <a:prstGeom prst="roundRect">
            <a:avLst>
              <a:gd name="adj" fmla="val 9744"/>
            </a:avLst>
          </a:prstGeom>
          <a:solidFill>
            <a:srgbClr val="FBFAFF"/>
          </a:solidFill>
          <a:ln/>
        </p:spPr>
      </p:sp>
      <p:sp>
        <p:nvSpPr>
          <p:cNvPr id="5" name="Text 3"/>
          <p:cNvSpPr/>
          <p:nvPr/>
        </p:nvSpPr>
        <p:spPr>
          <a:xfrm>
            <a:off x="1041400" y="2680971"/>
            <a:ext cx="3034792" cy="491067"/>
          </a:xfrm>
          <a:prstGeom prst="rect">
            <a:avLst/>
          </a:prstGeom>
          <a:noFill/>
          <a:ln/>
        </p:spPr>
        <p:txBody>
          <a:bodyPr wrap="square" lIns="0" tIns="0" rIns="0" bIns="0" rtlCol="0" anchor="t">
            <a:normAutofit/>
          </a:bodyPr>
          <a:lstStyle/>
          <a:p>
            <a:pPr algn="l" indent="0" marL="0">
              <a:lnSpc>
                <a:spcPts val="3663"/>
              </a:lnSpc>
              <a:buNone/>
            </a:pPr>
            <a:r>
              <a:rPr lang="en-US" sz="3663" b="1" dirty="0">
                <a:solidFill>
                  <a:srgbClr val="4C17C1"/>
                </a:solidFill>
                <a:latin typeface="Fredoka" pitchFamily="34" charset="0"/>
                <a:ea typeface="Fredoka" pitchFamily="34" charset="-122"/>
                <a:cs typeface="Fredoka" pitchFamily="34" charset="-120"/>
              </a:rPr>
              <a:t>100 %</a:t>
            </a:r>
            <a:endParaRPr lang="en-US" sz="3663" dirty="0"/>
          </a:p>
        </p:txBody>
      </p:sp>
      <p:sp>
        <p:nvSpPr>
          <p:cNvPr id="6" name="Text 4"/>
          <p:cNvSpPr/>
          <p:nvPr/>
        </p:nvSpPr>
        <p:spPr>
          <a:xfrm>
            <a:off x="1041400" y="3197436"/>
            <a:ext cx="3034792" cy="615738"/>
          </a:xfrm>
          <a:prstGeom prst="rect">
            <a:avLst/>
          </a:prstGeom>
          <a:noFill/>
          <a:ln/>
        </p:spPr>
        <p:txBody>
          <a:bodyPr wrap="square" lIns="0" tIns="0" rIns="0" bIns="0" rtlCol="0" anchor="t">
            <a:normAutofit/>
          </a:bodyPr>
          <a:lstStyle/>
          <a:p>
            <a:pPr algn="l" indent="0" marL="0">
              <a:lnSpc>
                <a:spcPts val="1658"/>
              </a:lnSpc>
              <a:buNone/>
            </a:pPr>
            <a:r>
              <a:rPr lang="en-US" sz="1276" b="1" dirty="0">
                <a:solidFill>
                  <a:srgbClr val="5A557A"/>
                </a:solidFill>
                <a:latin typeface="Nunito" pitchFamily="34" charset="0"/>
                <a:ea typeface="Nunito" pitchFamily="34" charset="-122"/>
                <a:cs typeface="Nunito" pitchFamily="34" charset="-120"/>
              </a:rPr>
              <a:t>de las raciones incompletas detectadas al instante en los puntos instalados</a:t>
            </a:r>
            <a:endParaRPr lang="en-US" sz="1276" dirty="0"/>
          </a:p>
        </p:txBody>
      </p:sp>
      <p:sp>
        <p:nvSpPr>
          <p:cNvPr id="7" name="Shape 5"/>
          <p:cNvSpPr/>
          <p:nvPr/>
        </p:nvSpPr>
        <p:spPr>
          <a:xfrm>
            <a:off x="4394200" y="2452371"/>
            <a:ext cx="3403600" cy="1564005"/>
          </a:xfrm>
          <a:prstGeom prst="roundRect">
            <a:avLst>
              <a:gd name="adj" fmla="val 9744"/>
            </a:avLst>
          </a:prstGeom>
          <a:solidFill>
            <a:srgbClr val="FBFAFF"/>
          </a:solidFill>
          <a:ln/>
        </p:spPr>
      </p:sp>
      <p:sp>
        <p:nvSpPr>
          <p:cNvPr id="8" name="Text 6"/>
          <p:cNvSpPr/>
          <p:nvPr/>
        </p:nvSpPr>
        <p:spPr>
          <a:xfrm>
            <a:off x="4622800" y="2680971"/>
            <a:ext cx="3034792" cy="491067"/>
          </a:xfrm>
          <a:prstGeom prst="rect">
            <a:avLst/>
          </a:prstGeom>
          <a:noFill/>
          <a:ln/>
        </p:spPr>
        <p:txBody>
          <a:bodyPr wrap="square" lIns="0" tIns="0" rIns="0" bIns="0" rtlCol="0" anchor="t">
            <a:normAutofit/>
          </a:bodyPr>
          <a:lstStyle/>
          <a:p>
            <a:pPr algn="l" indent="0" marL="0">
              <a:lnSpc>
                <a:spcPts val="3663"/>
              </a:lnSpc>
              <a:buNone/>
            </a:pPr>
            <a:r>
              <a:rPr lang="en-US" sz="3663" b="1" dirty="0">
                <a:solidFill>
                  <a:srgbClr val="13A676"/>
                </a:solidFill>
                <a:latin typeface="Fredoka" pitchFamily="34" charset="0"/>
                <a:ea typeface="Fredoka" pitchFamily="34" charset="-122"/>
                <a:cs typeface="Fredoka" pitchFamily="34" charset="-120"/>
              </a:rPr>
              <a:t>13 a 60 %</a:t>
            </a:r>
            <a:endParaRPr lang="en-US" sz="3663" dirty="0"/>
          </a:p>
        </p:txBody>
      </p:sp>
      <p:sp>
        <p:nvSpPr>
          <p:cNvPr id="9" name="Text 7"/>
          <p:cNvSpPr/>
          <p:nvPr/>
        </p:nvSpPr>
        <p:spPr>
          <a:xfrm>
            <a:off x="4622800" y="3197436"/>
            <a:ext cx="3034792" cy="615738"/>
          </a:xfrm>
          <a:prstGeom prst="rect">
            <a:avLst/>
          </a:prstGeom>
          <a:noFill/>
          <a:ln/>
        </p:spPr>
        <p:txBody>
          <a:bodyPr wrap="square" lIns="0" tIns="0" rIns="0" bIns="0" rtlCol="0" anchor="t">
            <a:normAutofit/>
          </a:bodyPr>
          <a:lstStyle/>
          <a:p>
            <a:pPr algn="l" indent="0" marL="0">
              <a:lnSpc>
                <a:spcPts val="1558"/>
              </a:lnSpc>
              <a:buNone/>
            </a:pPr>
            <a:r>
              <a:rPr lang="en-US" sz="1198" b="1" dirty="0">
                <a:solidFill>
                  <a:srgbClr val="5A557A"/>
                </a:solidFill>
                <a:latin typeface="Nunito" pitchFamily="34" charset="0"/>
                <a:ea typeface="Nunito" pitchFamily="34" charset="-122"/>
                <a:cs typeface="Nunito" pitchFamily="34" charset="-120"/>
              </a:rPr>
              <a:t>menos desperdicio en experiencias comparables de escaneo de bandejas (Corea del Sur, 29 colegios)</a:t>
            </a:r>
            <a:endParaRPr lang="en-US" sz="1198" dirty="0"/>
          </a:p>
        </p:txBody>
      </p:sp>
      <p:sp>
        <p:nvSpPr>
          <p:cNvPr id="10" name="Shape 8"/>
          <p:cNvSpPr/>
          <p:nvPr/>
        </p:nvSpPr>
        <p:spPr>
          <a:xfrm>
            <a:off x="7975600" y="2452371"/>
            <a:ext cx="3403600" cy="1564005"/>
          </a:xfrm>
          <a:prstGeom prst="roundRect">
            <a:avLst>
              <a:gd name="adj" fmla="val 9744"/>
            </a:avLst>
          </a:prstGeom>
          <a:solidFill>
            <a:srgbClr val="FBFAFF"/>
          </a:solidFill>
          <a:ln/>
        </p:spPr>
      </p:sp>
      <p:sp>
        <p:nvSpPr>
          <p:cNvPr id="11" name="Text 9"/>
          <p:cNvSpPr/>
          <p:nvPr/>
        </p:nvSpPr>
        <p:spPr>
          <a:xfrm>
            <a:off x="8204200" y="2680971"/>
            <a:ext cx="3034792" cy="491067"/>
          </a:xfrm>
          <a:prstGeom prst="rect">
            <a:avLst/>
          </a:prstGeom>
          <a:noFill/>
          <a:ln/>
        </p:spPr>
        <p:txBody>
          <a:bodyPr wrap="square" lIns="0" tIns="0" rIns="0" bIns="0" rtlCol="0" anchor="t">
            <a:normAutofit/>
          </a:bodyPr>
          <a:lstStyle/>
          <a:p>
            <a:pPr algn="l" indent="0" marL="0">
              <a:lnSpc>
                <a:spcPts val="3663"/>
              </a:lnSpc>
              <a:buNone/>
            </a:pPr>
            <a:r>
              <a:rPr lang="en-US" sz="3663" b="1" dirty="0">
                <a:solidFill>
                  <a:srgbClr val="4C17C1"/>
                </a:solidFill>
                <a:latin typeface="Fredoka" pitchFamily="34" charset="0"/>
                <a:ea typeface="Fredoka" pitchFamily="34" charset="-122"/>
                <a:cs typeface="Fredoka" pitchFamily="34" charset="-120"/>
              </a:rPr>
              <a:t>1.500</a:t>
            </a:r>
            <a:endParaRPr lang="en-US" sz="3663" dirty="0"/>
          </a:p>
        </p:txBody>
      </p:sp>
      <p:sp>
        <p:nvSpPr>
          <p:cNvPr id="12" name="Text 10"/>
          <p:cNvSpPr/>
          <p:nvPr/>
        </p:nvSpPr>
        <p:spPr>
          <a:xfrm>
            <a:off x="8204200" y="3197436"/>
            <a:ext cx="3034792" cy="615738"/>
          </a:xfrm>
          <a:prstGeom prst="rect">
            <a:avLst/>
          </a:prstGeom>
          <a:noFill/>
          <a:ln/>
        </p:spPr>
        <p:txBody>
          <a:bodyPr wrap="square" lIns="0" tIns="0" rIns="0" bIns="0" rtlCol="0" anchor="t">
            <a:normAutofit/>
          </a:bodyPr>
          <a:lstStyle/>
          <a:p>
            <a:pPr algn="l" indent="0" marL="0">
              <a:lnSpc>
                <a:spcPts val="1658"/>
              </a:lnSpc>
              <a:buNone/>
            </a:pPr>
            <a:r>
              <a:rPr lang="en-US" sz="1276" b="1" dirty="0">
                <a:solidFill>
                  <a:srgbClr val="5A557A"/>
                </a:solidFill>
                <a:latin typeface="Nunito" pitchFamily="34" charset="0"/>
                <a:ea typeface="Nunito" pitchFamily="34" charset="-122"/>
                <a:cs typeface="Nunito" pitchFamily="34" charset="-120"/>
              </a:rPr>
              <a:t>raciones diarias en el piloto de 2 sedes; 12.000 en la expansión a 20 sedes</a:t>
            </a:r>
            <a:endParaRPr lang="en-US" sz="1276" dirty="0"/>
          </a:p>
        </p:txBody>
      </p:sp>
      <p:sp>
        <p:nvSpPr>
          <p:cNvPr id="13" name="Shape 11"/>
          <p:cNvSpPr/>
          <p:nvPr/>
        </p:nvSpPr>
        <p:spPr>
          <a:xfrm>
            <a:off x="812800" y="4244975"/>
            <a:ext cx="5194300" cy="1597025"/>
          </a:xfrm>
          <a:prstGeom prst="roundRect">
            <a:avLst>
              <a:gd name="adj" fmla="val 7952"/>
            </a:avLst>
          </a:prstGeom>
          <a:solidFill>
            <a:srgbClr val="FBFAFF"/>
          </a:solidFill>
          <a:ln/>
        </p:spPr>
      </p:sp>
      <p:sp>
        <p:nvSpPr>
          <p:cNvPr id="14" name="Text 12"/>
          <p:cNvSpPr/>
          <p:nvPr/>
        </p:nvSpPr>
        <p:spPr>
          <a:xfrm>
            <a:off x="1016000" y="4422775"/>
            <a:ext cx="4931537" cy="250402"/>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4C17C1"/>
                </a:solidFill>
                <a:latin typeface="Fredoka" pitchFamily="34" charset="0"/>
                <a:ea typeface="Fredoka" pitchFamily="34" charset="-122"/>
                <a:cs typeface="Fredoka" pitchFamily="34" charset="-120"/>
              </a:rPr>
              <a:t>Indicadores que mediremos</a:t>
            </a:r>
            <a:endParaRPr lang="en-US" sz="1475" dirty="0"/>
          </a:p>
        </p:txBody>
      </p:sp>
      <p:sp>
        <p:nvSpPr>
          <p:cNvPr id="15" name="Text 13"/>
          <p:cNvSpPr/>
          <p:nvPr/>
        </p:nvSpPr>
        <p:spPr>
          <a:xfrm>
            <a:off x="1114508" y="4723978"/>
            <a:ext cx="4825409" cy="965623"/>
          </a:xfrm>
          <a:prstGeom prst="rect">
            <a:avLst/>
          </a:prstGeom>
          <a:noFill/>
          <a:ln/>
        </p:spPr>
        <p:txBody>
          <a:bodyPr wrap="square" lIns="0" tIns="0" rIns="0" bIns="0" rtlCol="0" anchor="t">
            <a:normAutofit/>
          </a:bodyPr>
          <a:lstStyle/>
          <a:p>
            <a:pPr algn="l" marL="155492" indent="-155492">
              <a:lnSpc>
                <a:spcPts val="1859"/>
              </a:lnSpc>
              <a:buSzPct val="100000"/>
              <a:buChar char="•"/>
            </a:pPr>
            <a:r>
              <a:rPr lang="en-US" sz="1239" dirty="0">
                <a:solidFill>
                  <a:srgbClr val="1F1A3D"/>
                </a:solidFill>
                <a:latin typeface="Nunito" pitchFamily="34" charset="0"/>
                <a:ea typeface="Nunito" pitchFamily="34" charset="-122"/>
                <a:cs typeface="Nunito" pitchFamily="34" charset="-120"/>
              </a:rPr>
              <a:t>Platos verdes a la primera, por sede y grado</a:t>
            </a:r>
            <a:endParaRPr lang="en-US" sz="1239" dirty="0"/>
          </a:p>
          <a:p>
            <a:pPr algn="l" marL="155492" indent="-155492">
              <a:lnSpc>
                <a:spcPts val="1859"/>
              </a:lnSpc>
              <a:buSzPct val="100000"/>
              <a:buChar char="•"/>
            </a:pPr>
            <a:r>
              <a:rPr lang="en-US" sz="1239" dirty="0">
                <a:solidFill>
                  <a:srgbClr val="1F1A3D"/>
                </a:solidFill>
                <a:latin typeface="Nunito" pitchFamily="34" charset="0"/>
                <a:ea typeface="Nunito" pitchFamily="34" charset="-122"/>
                <a:cs typeface="Nunito" pitchFamily="34" charset="-120"/>
              </a:rPr>
              <a:t>Grupo de alimentos que más falta</a:t>
            </a:r>
            <a:endParaRPr lang="en-US" sz="1239" dirty="0"/>
          </a:p>
          <a:p>
            <a:pPr algn="l" marL="155492" indent="-155492">
              <a:lnSpc>
                <a:spcPts val="1859"/>
              </a:lnSpc>
              <a:buSzPct val="100000"/>
              <a:buChar char="•"/>
            </a:pPr>
            <a:r>
              <a:rPr lang="en-US" sz="1239" dirty="0">
                <a:solidFill>
                  <a:srgbClr val="1F1A3D"/>
                </a:solidFill>
                <a:latin typeface="Nunito" pitchFamily="34" charset="0"/>
                <a:ea typeface="Nunito" pitchFamily="34" charset="-122"/>
                <a:cs typeface="Nunito" pitchFamily="34" charset="-120"/>
              </a:rPr>
              <a:t>Alimentos no aptos detectados e informes entregados a familias</a:t>
            </a:r>
            <a:endParaRPr lang="en-US" sz="1239" dirty="0"/>
          </a:p>
        </p:txBody>
      </p:sp>
      <p:sp>
        <p:nvSpPr>
          <p:cNvPr id="16" name="Shape 14"/>
          <p:cNvSpPr/>
          <p:nvPr/>
        </p:nvSpPr>
        <p:spPr>
          <a:xfrm>
            <a:off x="6184900" y="4244975"/>
            <a:ext cx="5194300" cy="1597025"/>
          </a:xfrm>
          <a:prstGeom prst="roundRect">
            <a:avLst>
              <a:gd name="adj" fmla="val 7952"/>
            </a:avLst>
          </a:prstGeom>
          <a:solidFill>
            <a:srgbClr val="FBFAFF"/>
          </a:solidFill>
          <a:ln/>
        </p:spPr>
      </p:sp>
      <p:sp>
        <p:nvSpPr>
          <p:cNvPr id="17" name="Text 15"/>
          <p:cNvSpPr/>
          <p:nvPr/>
        </p:nvSpPr>
        <p:spPr>
          <a:xfrm>
            <a:off x="6388100" y="4422775"/>
            <a:ext cx="4931537" cy="250402"/>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4C17C1"/>
                </a:solidFill>
                <a:latin typeface="Fredoka" pitchFamily="34" charset="0"/>
                <a:ea typeface="Fredoka" pitchFamily="34" charset="-122"/>
                <a:cs typeface="Fredoka" pitchFamily="34" charset="-120"/>
              </a:rPr>
              <a:t>Quién gana</a:t>
            </a:r>
            <a:endParaRPr lang="en-US" sz="1475" dirty="0"/>
          </a:p>
        </p:txBody>
      </p:sp>
      <p:sp>
        <p:nvSpPr>
          <p:cNvPr id="18" name="Text 16"/>
          <p:cNvSpPr/>
          <p:nvPr/>
        </p:nvSpPr>
        <p:spPr>
          <a:xfrm>
            <a:off x="6479887" y="4723978"/>
            <a:ext cx="4832130" cy="965623"/>
          </a:xfrm>
          <a:prstGeom prst="rect">
            <a:avLst/>
          </a:prstGeom>
          <a:noFill/>
          <a:ln/>
        </p:spPr>
        <p:txBody>
          <a:bodyPr wrap="square" lIns="0" tIns="0" rIns="0" bIns="0" rtlCol="0" anchor="t">
            <a:normAutofit/>
          </a:bodyPr>
          <a:lstStyle/>
          <a:p>
            <a:pPr algn="l" marL="162213" indent="-162213">
              <a:lnSpc>
                <a:spcPts val="1932"/>
              </a:lnSpc>
              <a:buSzPct val="100000"/>
              <a:buChar char="•"/>
            </a:pPr>
            <a:r>
              <a:rPr lang="en-US" sz="1288" dirty="0">
                <a:solidFill>
                  <a:srgbClr val="1F1A3D"/>
                </a:solidFill>
                <a:latin typeface="Nunito" pitchFamily="34" charset="0"/>
                <a:ea typeface="Nunito" pitchFamily="34" charset="-122"/>
                <a:cs typeface="Nunito" pitchFamily="34" charset="-120"/>
              </a:rPr>
              <a:t>Los niños: platos completos y una clase de nutrición cada día</a:t>
            </a:r>
            <a:endParaRPr lang="en-US" sz="1288" dirty="0"/>
          </a:p>
          <a:p>
            <a:pPr algn="l" marL="162213" indent="-162213">
              <a:lnSpc>
                <a:spcPts val="1932"/>
              </a:lnSpc>
              <a:buSzPct val="100000"/>
              <a:buChar char="•"/>
            </a:pPr>
            <a:r>
              <a:rPr lang="en-US" sz="1288" dirty="0">
                <a:solidFill>
                  <a:srgbClr val="1F1A3D"/>
                </a:solidFill>
                <a:latin typeface="Nunito" pitchFamily="34" charset="0"/>
                <a:ea typeface="Nunito" pitchFamily="34" charset="-122"/>
                <a:cs typeface="Nunito" pitchFamily="34" charset="-120"/>
              </a:rPr>
              <a:t>Rectores, docentes y familias: evidencia para reclamar</a:t>
            </a:r>
            <a:endParaRPr lang="en-US" sz="1288" dirty="0"/>
          </a:p>
          <a:p>
            <a:pPr algn="l" marL="162213" indent="-162213">
              <a:lnSpc>
                <a:spcPts val="1932"/>
              </a:lnSpc>
              <a:buSzPct val="100000"/>
              <a:buChar char="•"/>
            </a:pPr>
            <a:r>
              <a:rPr lang="en-US" sz="1288" dirty="0">
                <a:solidFill>
                  <a:srgbClr val="1F1A3D"/>
                </a:solidFill>
                <a:latin typeface="Nunito" pitchFamily="34" charset="0"/>
                <a:ea typeface="Nunito" pitchFamily="34" charset="-122"/>
                <a:cs typeface="Nunito" pitchFamily="34" charset="-120"/>
              </a:rPr>
              <a:t>La Secretaría: interventoría continua sobre el contrato del PAE</a:t>
            </a:r>
            <a:endParaRPr lang="en-US" sz="1288" dirty="0"/>
          </a:p>
        </p:txBody>
      </p:sp>
      <p:sp>
        <p:nvSpPr>
          <p:cNvPr id="19" name="Text 17"/>
          <p:cNvSpPr/>
          <p:nvPr/>
        </p:nvSpPr>
        <p:spPr>
          <a:xfrm>
            <a:off x="812800" y="6238242"/>
            <a:ext cx="94688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Fuente del dato de desperdicio: KOCIS, Ministerio de Cultura de Corea (2024), resultados de Nuvilab en 29 colegios.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4C17C1"/>
                </a:solidFill>
                <a:latin typeface="Nunito" pitchFamily="34" charset="0"/>
                <a:ea typeface="Nunito" pitchFamily="34" charset="-122"/>
                <a:cs typeface="Nunito" pitchFamily="34" charset="-120"/>
              </a:rPr>
              <a:t>PRESUPUESTO · PILOTO DE 2 SEDES, 12 MESES</a:t>
            </a:r>
            <a:endParaRPr lang="en-US" sz="1400" dirty="0"/>
          </a:p>
        </p:txBody>
      </p:sp>
      <p:sp>
        <p:nvSpPr>
          <p:cNvPr id="3" name="Text 1"/>
          <p:cNvSpPr/>
          <p:nvPr>
            <p:ph type="title"/>
          </p:nvPr>
        </p:nvSpPr>
        <p:spPr>
          <a:xfrm>
            <a:off x="812800" y="1239521"/>
            <a:ext cx="10883392" cy="975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F1A3D"/>
                </a:solidFill>
                <a:latin typeface="Fredoka" pitchFamily="34" charset="0"/>
                <a:ea typeface="Fredoka" pitchFamily="34" charset="-122"/>
                <a:cs typeface="Fredoka" pitchFamily="34" charset="-120"/>
              </a:rPr>
              <a:t>Sin báscula ni sensores: una estación cuesta lo que un PC con webcam</a:t>
            </a:r>
            <a:endParaRPr lang="en-US" sz="3400" dirty="0"/>
          </a:p>
        </p:txBody>
      </p:sp>
      <p:sp>
        <p:nvSpPr>
          <p:cNvPr id="4" name="Shape 2"/>
          <p:cNvSpPr/>
          <p:nvPr/>
        </p:nvSpPr>
        <p:spPr>
          <a:xfrm>
            <a:off x="812800" y="2367279"/>
            <a:ext cx="7010400" cy="3321050"/>
          </a:xfrm>
          <a:custGeom>
            <a:avLst/>
            <a:gdLst/>
            <a:ahLst/>
            <a:cxnLst/>
            <a:rect l="l" t="t" r="r" b="b"/>
            <a:pathLst>
              <a:path w="7010400" h="3321050">
                <a:moveTo>
                  <a:pt x="6908800" y="0"/>
                </a:moveTo>
                <a:lnTo>
                  <a:pt x="6908800" y="0"/>
                </a:lnTo>
                <a:arcTo hR="101600" wR="101600" stAng="16200000" swAng="5400000"/>
                <a:lnTo>
                  <a:pt x="7010400" y="3219450"/>
                </a:lnTo>
                <a:arcTo hR="101600" wR="101600" stAng="0" swAng="5400000"/>
                <a:lnTo>
                  <a:pt x="101600" y="3321050"/>
                </a:lnTo>
                <a:arcTo hR="101600" wR="101600" stAng="5400000" swAng="5400000"/>
                <a:lnTo>
                  <a:pt x="0" y="3219450"/>
                </a:lnTo>
                <a:arcTo hR="95250" wR="101600" stAng="10800000" swAng="-5400000"/>
                <a:lnTo>
                  <a:pt x="6908800" y="3314700"/>
                </a:lnTo>
                <a:arcTo hR="95250" wR="95250" stAng="5400000" swAng="-5400000"/>
                <a:lnTo>
                  <a:pt x="7004050" y="101600"/>
                </a:lnTo>
                <a:arcTo hR="101600" wR="95250" stAng="0" swAng="-5400000"/>
                <a:close/>
              </a:path>
            </a:pathLst>
          </a:custGeom>
          <a:solidFill>
            <a:srgbClr val="E6E2F5"/>
          </a:solidFill>
          <a:ln/>
        </p:spPr>
      </p:sp>
      <p:sp>
        <p:nvSpPr>
          <p:cNvPr id="5" name="Shape 3"/>
          <p:cNvSpPr/>
          <p:nvPr/>
        </p:nvSpPr>
        <p:spPr>
          <a:xfrm>
            <a:off x="812800" y="2367279"/>
            <a:ext cx="7010400" cy="3321050"/>
          </a:xfrm>
          <a:custGeom>
            <a:avLst/>
            <a:gdLst/>
            <a:ahLst/>
            <a:cxnLst/>
            <a:rect l="l" t="t" r="r" b="b"/>
            <a:pathLst>
              <a:path w="7010400" h="3321050">
                <a:moveTo>
                  <a:pt x="101600" y="3321050"/>
                </a:moveTo>
                <a:lnTo>
                  <a:pt x="101600" y="3321050"/>
                </a:lnTo>
                <a:arcTo hR="101600" wR="101600" stAng="5400000" swAng="5400000"/>
                <a:lnTo>
                  <a:pt x="0" y="101600"/>
                </a:lnTo>
                <a:arcTo hR="101600" wR="101600" stAng="10800000" swAng="5400000"/>
                <a:lnTo>
                  <a:pt x="6908800" y="0"/>
                </a:lnTo>
                <a:arcTo hR="101600" wR="101600" stAng="16200000" swAng="5400000"/>
                <a:lnTo>
                  <a:pt x="7010400" y="101600"/>
                </a:lnTo>
                <a:arcTo hR="88900" wR="101600" stAng="0" swAng="-5400000"/>
                <a:lnTo>
                  <a:pt x="101600" y="12700"/>
                </a:lnTo>
                <a:arcTo hR="88900" wR="88900" stAng="16200000" swAng="-5400000"/>
                <a:lnTo>
                  <a:pt x="12700" y="3219450"/>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79979"/>
          <a:ext cx="6991350" cy="3302000"/>
        </p:xfrm>
        <a:graphic>
          <a:graphicData uri="http://schemas.openxmlformats.org/drawingml/2006/table">
            <a:tbl>
              <a:tblPr/>
              <a:tblGrid>
                <a:gridCol w="3915156"/>
                <a:gridCol w="1118616"/>
                <a:gridCol w="1957578"/>
              </a:tblGrid>
              <a:tr h="332740">
                <a:tc>
                  <a:txBody>
                    <a:bodyPr/>
                    <a:lstStyle/>
                    <a:p>
                      <a:pPr indent="0" marL="0">
                        <a:lnSpc>
                          <a:spcPts val="1680"/>
                        </a:lnSpc>
                        <a:buNone/>
                      </a:pPr>
                      <a:r>
                        <a:rPr lang="en-US" sz="1200" b="1" dirty="0">
                          <a:solidFill>
                            <a:srgbClr val="1F1A3D"/>
                          </a:solidFill>
                          <a:latin typeface="Nunito" pitchFamily="34" charset="0"/>
                          <a:ea typeface="Nunito" pitchFamily="34" charset="-122"/>
                          <a:cs typeface="Nunito" pitchFamily="34" charset="-120"/>
                        </a:rPr>
                        <a:t>Rubro</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c>
                  <a:txBody>
                    <a:bodyPr/>
                    <a:lstStyle/>
                    <a:p>
                      <a:pPr indent="0" marL="0">
                        <a:lnSpc>
                          <a:spcPts val="1680"/>
                        </a:lnSpc>
                        <a:buNone/>
                      </a:pPr>
                      <a:r>
                        <a:rPr lang="en-US" sz="1200" b="1" dirty="0">
                          <a:solidFill>
                            <a:srgbClr val="1F1A3D"/>
                          </a:solidFill>
                          <a:latin typeface="Nunito" pitchFamily="34" charset="0"/>
                          <a:ea typeface="Nunito" pitchFamily="34" charset="-122"/>
                          <a:cs typeface="Nunito" pitchFamily="34" charset="-120"/>
                        </a:rPr>
                        <a:t>Cantidad</a:t>
                      </a:r>
                      <a:endParaRPr lang="en-US" sz="1200" dirty="0">
                        <a:latin typeface="Nunito" charset="0"/>
                        <a:ea typeface="Nunito" charset="0"/>
                        <a:cs typeface="Nunito" charset="0"/>
                      </a:endParaRPr>
                    </a:p>
                  </a:txBody>
                  <a:tcPr marL="53340" marR="53340" marT="53340" marB="5334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c>
                  <a:txBody>
                    <a:bodyPr/>
                    <a:lstStyle/>
                    <a:p>
                      <a:pPr algn="r" indent="0" marL="0">
                        <a:lnSpc>
                          <a:spcPts val="1680"/>
                        </a:lnSpc>
                        <a:buNone/>
                      </a:pPr>
                      <a:r>
                        <a:rPr lang="en-US" sz="1200" b="1" dirty="0">
                          <a:solidFill>
                            <a:srgbClr val="1F1A3D"/>
                          </a:solidFill>
                          <a:latin typeface="Nunito" pitchFamily="34" charset="0"/>
                          <a:ea typeface="Nunito" pitchFamily="34" charset="-122"/>
                          <a:cs typeface="Nunito" pitchFamily="34" charset="-120"/>
                        </a:rPr>
                        <a:t>Valor (COP)</a:t>
                      </a:r>
                      <a:endParaRPr lang="en-US" sz="1200" dirty="0">
                        <a:latin typeface="Nunito" charset="0"/>
                        <a:ea typeface="Nunito" charset="0"/>
                        <a:cs typeface="Nunito" charset="0"/>
                      </a:endParaRPr>
                    </a:p>
                  </a:txBody>
                  <a:tcPr marL="53340" marR="53340" marT="53340" marB="5334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0" cap="flat" cmpd="sng" algn="ctr">
                      <a:noFill/>
                    </a:lnT>
                    <a:lnB w="12700" cap="flat" cmpd="sng" algn="ctr">
                      <a:solidFill>
                        <a:srgbClr val="C1BEC9"/>
                      </a:solidFill>
                      <a:prstDash val="solid"/>
                      <a:round/>
                      <a:headEnd type="none" w="med" len="med"/>
                      <a:tailEnd type="none" w="med" len="med"/>
                    </a:lnB>
                    <a:solidFill>
                      <a:srgbClr val="F2EEFC"/>
                    </a:solidFill>
                  </a:tcPr>
                </a:tc>
              </a:tr>
              <a:tr h="54610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PC de estación: Core i5, 16 GB, SSD 512 GB, monitor 24"</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5.000.000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1BEC9"/>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33274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Webcam Logitech C920 y brazo cenital</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1.020.000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54610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Servidor Lightsail (12 USD/mes) y base PostgreSQL (15 USD/mes)</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12 meses</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1.036.000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33274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Dominio .com.co</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1 año</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48.000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33274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Tarjetas QR en PVC a color (≈ 3.000 c/u)</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1.500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4.500.000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54610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Capacitación a docentes y manipuladoras, consentimientos</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2 sedes</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1.200.000</a:t>
                      </a:r>
                      <a:endParaRPr lang="en-US" sz="1200" dirty="0">
                        <a:latin typeface="Nunito" charset="0"/>
                        <a:ea typeface="Nunito" charset="0"/>
                        <a:cs typeface="Nunito" charset="0"/>
                      </a:endParaRPr>
                    </a:p>
                  </a:txBody>
                  <a:tcPr marL="53340" marR="53340" marT="53340" marB="53340" anchor="t">
                    <a:lnL w="12700" cap="flat" cmpd="sng" algn="ctr">
                      <a:solidFill>
                        <a:srgbClr val="C8C7CB"/>
                      </a:solidFill>
                      <a:prstDash val="solid"/>
                      <a:round/>
                      <a:headEnd type="none" w="med" len="med"/>
                      <a:tailEnd type="none" w="med" len="med"/>
                    </a:lnL>
                    <a:lnR w="12700" cap="flat" cmpd="sng" algn="ctr">
                      <a:solidFill>
                        <a:srgbClr val="C8C7CB"/>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8C7CB"/>
                      </a:solidFill>
                      <a:prstDash val="solid"/>
                      <a:round/>
                      <a:headEnd type="none" w="med" len="med"/>
                      <a:tailEnd type="none" w="med" len="med"/>
                    </a:lnB>
                  </a:tcPr>
                </a:tc>
              </a:tr>
              <a:tr h="332740">
                <a:tc>
                  <a:txBody>
                    <a:bodyPr/>
                    <a:lstStyle/>
                    <a:p>
                      <a:pPr indent="0" marL="0">
                        <a:lnSpc>
                          <a:spcPts val="1680"/>
                        </a:lnSpc>
                        <a:buNone/>
                      </a:pPr>
                      <a:r>
                        <a:rPr lang="en-US" sz="1200" dirty="0">
                          <a:solidFill>
                            <a:srgbClr val="1F1A3D"/>
                          </a:solidFill>
                          <a:latin typeface="Nunito" pitchFamily="34" charset="0"/>
                          <a:ea typeface="Nunito" pitchFamily="34" charset="-122"/>
                          <a:cs typeface="Nunito" pitchFamily="34" charset="-120"/>
                        </a:rPr>
                        <a:t>Total piloto, 12 meses</a:t>
                      </a:r>
                      <a:endParaRPr lang="en-US" sz="1200" dirty="0">
                        <a:latin typeface="Nunito" charset="0"/>
                        <a:ea typeface="Nunito" charset="0"/>
                        <a:cs typeface="Nunito" charset="0"/>
                      </a:endParaRPr>
                    </a:p>
                  </a:txBody>
                  <a:tcPr marL="53340" marR="53340" marT="53340" marB="53340" anchor="t">
                    <a:lnL w="0" cap="flat" cmpd="sng" algn="ctr">
                      <a:noFill/>
                    </a:lnL>
                    <a:lnR w="12700" cap="flat" cmpd="sng" algn="ctr">
                      <a:solidFill>
                        <a:srgbClr val="C1BEC9"/>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1BEC9"/>
                      </a:solidFill>
                      <a:prstDash val="solid"/>
                      <a:round/>
                      <a:headEnd type="none" w="med" len="med"/>
                      <a:tailEnd type="none" w="med" len="med"/>
                    </a:lnB>
                    <a:solidFill>
                      <a:srgbClr val="F2EEFC"/>
                    </a:solidFill>
                  </a:tcPr>
                </a:tc>
                <a:tc>
                  <a:txBody>
                    <a:bodyPr/>
                    <a:lstStyle/>
                    <a:p>
                      <a:pPr indent="0" marL="0">
                        <a:lnSpc>
                          <a:spcPts val="1680"/>
                        </a:lnSpc>
                        <a:buNone/>
                      </a:pPr>
                      <a:endParaRPr lang="en-US" sz="1200" dirty="0">
                        <a:latin typeface="Nunito" charset="0"/>
                        <a:ea typeface="Nunito" charset="0"/>
                        <a:cs typeface="Nunito" charset="0"/>
                      </a:endParaRPr>
                    </a:p>
                  </a:txBody>
                  <a:tcPr marL="53340" marR="53340" marT="53340" marB="5334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1BEC9"/>
                      </a:solidFill>
                      <a:prstDash val="solid"/>
                      <a:round/>
                      <a:headEnd type="none" w="med" len="med"/>
                      <a:tailEnd type="none" w="med" len="med"/>
                    </a:lnB>
                    <a:solidFill>
                      <a:srgbClr val="F2EEFC"/>
                    </a:solidFill>
                  </a:tcPr>
                </a:tc>
                <a:tc>
                  <a:txBody>
                    <a:bodyPr/>
                    <a:lstStyle/>
                    <a:p>
                      <a:pPr algn="r" indent="0" marL="0">
                        <a:lnSpc>
                          <a:spcPts val="1680"/>
                        </a:lnSpc>
                        <a:buNone/>
                      </a:pPr>
                      <a:r>
                        <a:rPr lang="en-US" sz="1200" dirty="0">
                          <a:solidFill>
                            <a:srgbClr val="1F1A3D"/>
                          </a:solidFill>
                          <a:latin typeface="Nunito" pitchFamily="34" charset="0"/>
                          <a:ea typeface="Nunito" pitchFamily="34" charset="-122"/>
                          <a:cs typeface="Nunito" pitchFamily="34" charset="-120"/>
                        </a:rPr>
                        <a:t>≈ 12.800.000</a:t>
                      </a:r>
                      <a:endParaRPr lang="en-US" sz="1200" dirty="0">
                        <a:latin typeface="Nunito" charset="0"/>
                        <a:ea typeface="Nunito" charset="0"/>
                        <a:cs typeface="Nunito" charset="0"/>
                      </a:endParaRPr>
                    </a:p>
                  </a:txBody>
                  <a:tcPr marL="53340" marR="53340" marT="53340" marB="53340" anchor="t">
                    <a:lnL w="12700" cap="flat" cmpd="sng" algn="ctr">
                      <a:solidFill>
                        <a:srgbClr val="C1BEC9"/>
                      </a:solidFill>
                      <a:prstDash val="solid"/>
                      <a:round/>
                      <a:headEnd type="none" w="med" len="med"/>
                      <a:tailEnd type="none" w="med" len="med"/>
                    </a:lnL>
                    <a:lnR w="12700" cap="flat" cmpd="sng" algn="ctr">
                      <a:solidFill>
                        <a:srgbClr val="C1BEC9"/>
                      </a:solidFill>
                      <a:prstDash val="solid"/>
                      <a:round/>
                      <a:headEnd type="none" w="med" len="med"/>
                      <a:tailEnd type="none" w="med" len="med"/>
                    </a:lnR>
                    <a:lnT w="12700" cap="flat" cmpd="sng" algn="ctr">
                      <a:solidFill>
                        <a:srgbClr val="C8C7CB"/>
                      </a:solidFill>
                      <a:prstDash val="solid"/>
                      <a:round/>
                      <a:headEnd type="none" w="med" len="med"/>
                      <a:tailEnd type="none" w="med" len="med"/>
                    </a:lnT>
                    <a:lnB w="12700" cap="flat" cmpd="sng" algn="ctr">
                      <a:solidFill>
                        <a:srgbClr val="C1BEC9"/>
                      </a:solidFill>
                      <a:prstDash val="solid"/>
                      <a:round/>
                      <a:headEnd type="none" w="med" len="med"/>
                      <a:tailEnd type="none" w="med" len="med"/>
                    </a:lnB>
                    <a:solidFill>
                      <a:srgbClr val="F2EEFC"/>
                    </a:solidFill>
                  </a:tcPr>
                </a:tc>
              </a:tr>
            </a:tbl>
          </a:graphicData>
        </a:graphic>
      </p:graphicFrame>
      <p:sp>
        <p:nvSpPr>
          <p:cNvPr id="7" name="Shape 4"/>
          <p:cNvSpPr/>
          <p:nvPr/>
        </p:nvSpPr>
        <p:spPr>
          <a:xfrm>
            <a:off x="8077200" y="2367279"/>
            <a:ext cx="3302000" cy="1290320"/>
          </a:xfrm>
          <a:prstGeom prst="roundRect">
            <a:avLst>
              <a:gd name="adj" fmla="val 9843"/>
            </a:avLst>
          </a:prstGeom>
          <a:solidFill>
            <a:srgbClr val="DFF8EE"/>
          </a:solidFill>
          <a:ln/>
        </p:spPr>
      </p:sp>
      <p:sp>
        <p:nvSpPr>
          <p:cNvPr id="8" name="Text 5"/>
          <p:cNvSpPr/>
          <p:nvPr/>
        </p:nvSpPr>
        <p:spPr>
          <a:xfrm>
            <a:off x="8280400" y="2545079"/>
            <a:ext cx="29824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A676"/>
                </a:solidFill>
                <a:latin typeface="Fredoka" pitchFamily="34" charset="0"/>
                <a:ea typeface="Fredoka" pitchFamily="34" charset="-122"/>
                <a:cs typeface="Fredoka" pitchFamily="34" charset="-120"/>
              </a:rPr>
              <a:t>Costo marginal bajo</a:t>
            </a:r>
            <a:endParaRPr lang="en-US" sz="1600" dirty="0"/>
          </a:p>
        </p:txBody>
      </p:sp>
      <p:sp>
        <p:nvSpPr>
          <p:cNvPr id="9" name="Text 6"/>
          <p:cNvSpPr/>
          <p:nvPr/>
        </p:nvSpPr>
        <p:spPr>
          <a:xfrm>
            <a:off x="8280400" y="2839721"/>
            <a:ext cx="298246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A3D"/>
                </a:solidFill>
                <a:latin typeface="Nunito" pitchFamily="34" charset="0"/>
                <a:ea typeface="Nunito" pitchFamily="34" charset="-122"/>
                <a:cs typeface="Nunito" pitchFamily="34" charset="-120"/>
              </a:rPr>
              <a:t>Una sede nueva solo necesita una estación o el celular de la docente. El servidor atiende varias sedes.</a:t>
            </a:r>
            <a:endParaRPr lang="en-US" sz="1200" dirty="0"/>
          </a:p>
        </p:txBody>
      </p:sp>
      <p:sp>
        <p:nvSpPr>
          <p:cNvPr id="10" name="Shape 7"/>
          <p:cNvSpPr/>
          <p:nvPr/>
        </p:nvSpPr>
        <p:spPr>
          <a:xfrm>
            <a:off x="8077200" y="3784600"/>
            <a:ext cx="3302000" cy="1503680"/>
          </a:xfrm>
          <a:prstGeom prst="roundRect">
            <a:avLst>
              <a:gd name="adj" fmla="val 8446"/>
            </a:avLst>
          </a:prstGeom>
          <a:solidFill>
            <a:srgbClr val="F2EEFC"/>
          </a:solidFill>
          <a:ln/>
        </p:spPr>
      </p:sp>
      <p:sp>
        <p:nvSpPr>
          <p:cNvPr id="11" name="Text 8"/>
          <p:cNvSpPr/>
          <p:nvPr/>
        </p:nvSpPr>
        <p:spPr>
          <a:xfrm>
            <a:off x="8280400" y="3962400"/>
            <a:ext cx="298246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C17C1"/>
                </a:solidFill>
                <a:latin typeface="Fredoka" pitchFamily="34" charset="0"/>
                <a:ea typeface="Fredoka" pitchFamily="34" charset="-122"/>
                <a:cs typeface="Fredoka" pitchFamily="34" charset="-120"/>
              </a:rPr>
              <a:t>Cómo se financia</a:t>
            </a:r>
            <a:endParaRPr lang="en-US" sz="1600" dirty="0"/>
          </a:p>
        </p:txBody>
      </p:sp>
      <p:sp>
        <p:nvSpPr>
          <p:cNvPr id="12" name="Text 9"/>
          <p:cNvSpPr/>
          <p:nvPr/>
        </p:nvSpPr>
        <p:spPr>
          <a:xfrm>
            <a:off x="8280400" y="4257042"/>
            <a:ext cx="2982468"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A3D"/>
                </a:solidFill>
                <a:latin typeface="Nunito" pitchFamily="34" charset="0"/>
                <a:ea typeface="Nunito" pitchFamily="34" charset="-122"/>
                <a:cs typeface="Nunito" pitchFamily="34" charset="-120"/>
              </a:rPr>
              <a:t>Como requisito del contrato PAE (el operador paga la estación) o inversión municipal. El ahorro por desperdicio y raciones no entregadas supera el costo.</a:t>
            </a:r>
            <a:endParaRPr lang="en-US" sz="1200" dirty="0"/>
          </a:p>
        </p:txBody>
      </p:sp>
      <p:sp>
        <p:nvSpPr>
          <p:cNvPr id="13" name="Text 10"/>
          <p:cNvSpPr/>
          <p:nvPr/>
        </p:nvSpPr>
        <p:spPr>
          <a:xfrm>
            <a:off x="812800" y="6238242"/>
            <a:ext cx="10232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Precios de referencia en Colombia, octubre de 2026, a ≈ 3.200 COP por USD. El servidor pasa a 24 USD/mes al sumar sedes.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EF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4C17C1"/>
                </a:solidFill>
                <a:latin typeface="Nunito" pitchFamily="34" charset="0"/>
                <a:ea typeface="Nunito" pitchFamily="34" charset="-122"/>
                <a:cs typeface="Nunito" pitchFamily="34" charset="-120"/>
              </a:rPr>
              <a:t>CRONOGRAMA · 12 MESES</a:t>
            </a:r>
            <a:endParaRPr lang="en-US" sz="1400" dirty="0"/>
          </a:p>
        </p:txBody>
      </p:sp>
      <p:sp>
        <p:nvSpPr>
          <p:cNvPr id="3" name="Text 1"/>
          <p:cNvSpPr/>
          <p:nvPr>
            <p:ph type="title"/>
          </p:nvPr>
        </p:nvSpPr>
        <p:spPr>
          <a:xfrm>
            <a:off x="812800" y="129032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1A3D"/>
                </a:solidFill>
                <a:latin typeface="Fredoka" pitchFamily="34" charset="0"/>
                <a:ea typeface="Fredoka" pitchFamily="34" charset="-122"/>
                <a:cs typeface="Fredoka" pitchFamily="34" charset="-120"/>
              </a:rPr>
              <a:t>De dos sedes piloto a veinte, con el modelo propio en la estación</a:t>
            </a:r>
            <a:endParaRPr lang="en-US" sz="3600" dirty="0"/>
          </a:p>
        </p:txBody>
      </p:sp>
      <p:sp>
        <p:nvSpPr>
          <p:cNvPr id="4" name="Shape 2"/>
          <p:cNvSpPr/>
          <p:nvPr/>
        </p:nvSpPr>
        <p:spPr>
          <a:xfrm>
            <a:off x="812800" y="2524758"/>
            <a:ext cx="2032000" cy="2628900"/>
          </a:xfrm>
          <a:prstGeom prst="roundRect">
            <a:avLst>
              <a:gd name="adj" fmla="val 6250"/>
            </a:avLst>
          </a:prstGeom>
          <a:solidFill>
            <a:srgbClr val="FBFAFF"/>
          </a:solidFill>
          <a:ln/>
        </p:spPr>
      </p:sp>
      <p:sp>
        <p:nvSpPr>
          <p:cNvPr id="5" name="Shape 3"/>
          <p:cNvSpPr/>
          <p:nvPr/>
        </p:nvSpPr>
        <p:spPr>
          <a:xfrm>
            <a:off x="812800" y="2524758"/>
            <a:ext cx="2032000" cy="2628900"/>
          </a:xfrm>
          <a:custGeom>
            <a:avLst/>
            <a:gdLst/>
            <a:ahLst/>
            <a:cxnLst/>
            <a:rect l="l" t="t" r="r" b="b"/>
            <a:pathLst>
              <a:path w="2032000" h="2628900">
                <a:moveTo>
                  <a:pt x="0" y="127000"/>
                </a:moveTo>
                <a:lnTo>
                  <a:pt x="0" y="127000"/>
                </a:lnTo>
                <a:arcTo hR="127000" wR="127000" stAng="10800000" swAng="5400000"/>
                <a:lnTo>
                  <a:pt x="1905000" y="0"/>
                </a:lnTo>
                <a:arcTo hR="127000" wR="127000" stAng="16200000" swAng="5400000"/>
                <a:lnTo>
                  <a:pt x="2032000" y="127000"/>
                </a:lnTo>
                <a:arcTo hR="50800" wR="127000" stAng="0" swAng="-5400000"/>
                <a:lnTo>
                  <a:pt x="127000" y="76200"/>
                </a:lnTo>
                <a:arcTo hR="50800" wR="127000" stAng="16200000" swAng="-5400000"/>
                <a:close/>
              </a:path>
            </a:pathLst>
          </a:custGeom>
          <a:solidFill>
            <a:srgbClr val="4C17C1"/>
          </a:solidFill>
          <a:ln/>
        </p:spPr>
      </p:sp>
      <p:sp>
        <p:nvSpPr>
          <p:cNvPr id="6" name="Text 4"/>
          <p:cNvSpPr/>
          <p:nvPr/>
        </p:nvSpPr>
        <p:spPr>
          <a:xfrm>
            <a:off x="965200" y="2778758"/>
            <a:ext cx="177901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C17C1"/>
                </a:solidFill>
                <a:latin typeface="Fredoka" pitchFamily="34" charset="0"/>
                <a:ea typeface="Fredoka" pitchFamily="34" charset="-122"/>
                <a:cs typeface="Fredoka" pitchFamily="34" charset="-120"/>
              </a:rPr>
              <a:t>Meses 1–2</a:t>
            </a:r>
            <a:endParaRPr lang="en-US" sz="1800" dirty="0"/>
          </a:p>
        </p:txBody>
      </p:sp>
      <p:sp>
        <p:nvSpPr>
          <p:cNvPr id="7" name="Text 5"/>
          <p:cNvSpPr/>
          <p:nvPr/>
        </p:nvSpPr>
        <p:spPr>
          <a:xfrm>
            <a:off x="965200" y="3175000"/>
            <a:ext cx="177901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1A3D"/>
                </a:solidFill>
                <a:latin typeface="Nunito" pitchFamily="34" charset="0"/>
                <a:ea typeface="Nunito" pitchFamily="34" charset="-122"/>
                <a:cs typeface="Nunito" pitchFamily="34" charset="-120"/>
              </a:rPr>
              <a:t>Acuerdos y preparación</a:t>
            </a:r>
            <a:endParaRPr lang="en-US" sz="1400" dirty="0"/>
          </a:p>
        </p:txBody>
      </p:sp>
      <p:sp>
        <p:nvSpPr>
          <p:cNvPr id="8" name="Text 6"/>
          <p:cNvSpPr/>
          <p:nvPr/>
        </p:nvSpPr>
        <p:spPr>
          <a:xfrm>
            <a:off x="965200" y="3695700"/>
            <a:ext cx="1779016" cy="13055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Secretaría y operador. 2 sedes piloto. Consentimientos, carga de estudiantes, tarjetas QR. Umbrales validados con la nutricionista.</a:t>
            </a:r>
            <a:endParaRPr lang="en-US" sz="1200" dirty="0"/>
          </a:p>
        </p:txBody>
      </p:sp>
      <p:sp>
        <p:nvSpPr>
          <p:cNvPr id="9" name="Shape 7"/>
          <p:cNvSpPr/>
          <p:nvPr/>
        </p:nvSpPr>
        <p:spPr>
          <a:xfrm>
            <a:off x="2946400" y="2524758"/>
            <a:ext cx="2032000" cy="2628900"/>
          </a:xfrm>
          <a:prstGeom prst="roundRect">
            <a:avLst>
              <a:gd name="adj" fmla="val 6250"/>
            </a:avLst>
          </a:prstGeom>
          <a:solidFill>
            <a:srgbClr val="FBFAFF"/>
          </a:solidFill>
          <a:ln/>
        </p:spPr>
      </p:sp>
      <p:sp>
        <p:nvSpPr>
          <p:cNvPr id="10" name="Shape 8"/>
          <p:cNvSpPr/>
          <p:nvPr/>
        </p:nvSpPr>
        <p:spPr>
          <a:xfrm>
            <a:off x="2946400" y="2524758"/>
            <a:ext cx="2032000" cy="2628900"/>
          </a:xfrm>
          <a:custGeom>
            <a:avLst/>
            <a:gdLst/>
            <a:ahLst/>
            <a:cxnLst/>
            <a:rect l="l" t="t" r="r" b="b"/>
            <a:pathLst>
              <a:path w="2032000" h="2628900">
                <a:moveTo>
                  <a:pt x="0" y="127000"/>
                </a:moveTo>
                <a:lnTo>
                  <a:pt x="0" y="127000"/>
                </a:lnTo>
                <a:arcTo hR="127000" wR="127000" stAng="10800000" swAng="5400000"/>
                <a:lnTo>
                  <a:pt x="1905000" y="0"/>
                </a:lnTo>
                <a:arcTo hR="127000" wR="127000" stAng="16200000" swAng="5400000"/>
                <a:lnTo>
                  <a:pt x="2032000" y="127000"/>
                </a:lnTo>
                <a:arcTo hR="50800" wR="127000" stAng="0" swAng="-5400000"/>
                <a:lnTo>
                  <a:pt x="127000" y="76200"/>
                </a:lnTo>
                <a:arcTo hR="50800" wR="127000" stAng="16200000" swAng="-5400000"/>
                <a:close/>
              </a:path>
            </a:pathLst>
          </a:custGeom>
          <a:solidFill>
            <a:srgbClr val="4C17C1"/>
          </a:solidFill>
          <a:ln/>
        </p:spPr>
      </p:sp>
      <p:sp>
        <p:nvSpPr>
          <p:cNvPr id="11" name="Text 9"/>
          <p:cNvSpPr/>
          <p:nvPr/>
        </p:nvSpPr>
        <p:spPr>
          <a:xfrm>
            <a:off x="3098800" y="2778758"/>
            <a:ext cx="177901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C17C1"/>
                </a:solidFill>
                <a:latin typeface="Fredoka" pitchFamily="34" charset="0"/>
                <a:ea typeface="Fredoka" pitchFamily="34" charset="-122"/>
                <a:cs typeface="Fredoka" pitchFamily="34" charset="-120"/>
              </a:rPr>
              <a:t>Meses 3–4</a:t>
            </a:r>
            <a:endParaRPr lang="en-US" sz="1800" dirty="0"/>
          </a:p>
        </p:txBody>
      </p:sp>
      <p:sp>
        <p:nvSpPr>
          <p:cNvPr id="12" name="Text 10"/>
          <p:cNvSpPr/>
          <p:nvPr/>
        </p:nvSpPr>
        <p:spPr>
          <a:xfrm>
            <a:off x="3098800" y="3175000"/>
            <a:ext cx="177901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1A3D"/>
                </a:solidFill>
                <a:latin typeface="Nunito" pitchFamily="34" charset="0"/>
                <a:ea typeface="Nunito" pitchFamily="34" charset="-122"/>
                <a:cs typeface="Nunito" pitchFamily="34" charset="-120"/>
              </a:rPr>
              <a:t>Piloto en operación diaria</a:t>
            </a:r>
            <a:endParaRPr lang="en-US" sz="1400" dirty="0"/>
          </a:p>
        </p:txBody>
      </p:sp>
      <p:sp>
        <p:nvSpPr>
          <p:cNvPr id="13" name="Text 11"/>
          <p:cNvSpPr/>
          <p:nvPr/>
        </p:nvSpPr>
        <p:spPr>
          <a:xfrm>
            <a:off x="3098800" y="3695700"/>
            <a:ext cx="1779016" cy="13055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Estaciones y celulares de docentes. Calibración de gramos con 300 bandejas pesadas. Muestra de fotos y correcciones.</a:t>
            </a:r>
            <a:endParaRPr lang="en-US" sz="1200" dirty="0"/>
          </a:p>
        </p:txBody>
      </p:sp>
      <p:sp>
        <p:nvSpPr>
          <p:cNvPr id="14" name="Shape 12"/>
          <p:cNvSpPr/>
          <p:nvPr/>
        </p:nvSpPr>
        <p:spPr>
          <a:xfrm>
            <a:off x="5080000" y="2524758"/>
            <a:ext cx="2032000" cy="2628900"/>
          </a:xfrm>
          <a:prstGeom prst="roundRect">
            <a:avLst>
              <a:gd name="adj" fmla="val 6250"/>
            </a:avLst>
          </a:prstGeom>
          <a:solidFill>
            <a:srgbClr val="FBFAFF"/>
          </a:solidFill>
          <a:ln/>
        </p:spPr>
      </p:sp>
      <p:sp>
        <p:nvSpPr>
          <p:cNvPr id="15" name="Shape 13"/>
          <p:cNvSpPr/>
          <p:nvPr/>
        </p:nvSpPr>
        <p:spPr>
          <a:xfrm>
            <a:off x="5080000" y="2524758"/>
            <a:ext cx="2032000" cy="2628900"/>
          </a:xfrm>
          <a:custGeom>
            <a:avLst/>
            <a:gdLst/>
            <a:ahLst/>
            <a:cxnLst/>
            <a:rect l="l" t="t" r="r" b="b"/>
            <a:pathLst>
              <a:path w="2032000" h="2628900">
                <a:moveTo>
                  <a:pt x="0" y="127000"/>
                </a:moveTo>
                <a:lnTo>
                  <a:pt x="0" y="127000"/>
                </a:lnTo>
                <a:arcTo hR="127000" wR="127000" stAng="10800000" swAng="5400000"/>
                <a:lnTo>
                  <a:pt x="1905000" y="0"/>
                </a:lnTo>
                <a:arcTo hR="127000" wR="127000" stAng="16200000" swAng="5400000"/>
                <a:lnTo>
                  <a:pt x="2032000" y="127000"/>
                </a:lnTo>
                <a:arcTo hR="50800" wR="127000" stAng="0" swAng="-5400000"/>
                <a:lnTo>
                  <a:pt x="127000" y="76200"/>
                </a:lnTo>
                <a:arcTo hR="50800" wR="127000" stAng="16200000" swAng="-5400000"/>
                <a:close/>
              </a:path>
            </a:pathLst>
          </a:custGeom>
          <a:solidFill>
            <a:srgbClr val="FAC344"/>
          </a:solidFill>
          <a:ln/>
        </p:spPr>
      </p:sp>
      <p:sp>
        <p:nvSpPr>
          <p:cNvPr id="16" name="Text 14"/>
          <p:cNvSpPr/>
          <p:nvPr/>
        </p:nvSpPr>
        <p:spPr>
          <a:xfrm>
            <a:off x="5232400" y="2778758"/>
            <a:ext cx="177901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8820A"/>
                </a:solidFill>
                <a:latin typeface="Fredoka" pitchFamily="34" charset="0"/>
                <a:ea typeface="Fredoka" pitchFamily="34" charset="-122"/>
                <a:cs typeface="Fredoka" pitchFamily="34" charset="-120"/>
              </a:rPr>
              <a:t>Meses 5–6</a:t>
            </a:r>
            <a:endParaRPr lang="en-US" sz="1800" dirty="0"/>
          </a:p>
        </p:txBody>
      </p:sp>
      <p:sp>
        <p:nvSpPr>
          <p:cNvPr id="17" name="Text 15"/>
          <p:cNvSpPr/>
          <p:nvPr/>
        </p:nvSpPr>
        <p:spPr>
          <a:xfrm>
            <a:off x="5232400" y="3175000"/>
            <a:ext cx="1779016"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1A3D"/>
                </a:solidFill>
                <a:latin typeface="Nunito" pitchFamily="34" charset="0"/>
                <a:ea typeface="Nunito" pitchFamily="34" charset="-122"/>
                <a:cs typeface="Nunito" pitchFamily="34" charset="-120"/>
              </a:rPr>
              <a:t>Medir y entrenar</a:t>
            </a:r>
            <a:endParaRPr lang="en-US" sz="1400" dirty="0"/>
          </a:p>
        </p:txBody>
      </p:sp>
      <p:sp>
        <p:nvSpPr>
          <p:cNvPr id="18" name="Text 16"/>
          <p:cNvSpPr/>
          <p:nvPr/>
        </p:nvSpPr>
        <p:spPr>
          <a:xfrm>
            <a:off x="5232400" y="3473450"/>
            <a:ext cx="1779016" cy="15189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Línea base frente a piloto. Ajuste de mensajes y umbrales. Entrenamiento del modelo YOLO-seg propio con las fotos del piloto.</a:t>
            </a:r>
            <a:endParaRPr lang="en-US" sz="1200" dirty="0"/>
          </a:p>
        </p:txBody>
      </p:sp>
      <p:sp>
        <p:nvSpPr>
          <p:cNvPr id="19" name="Shape 17"/>
          <p:cNvSpPr/>
          <p:nvPr/>
        </p:nvSpPr>
        <p:spPr>
          <a:xfrm>
            <a:off x="7213600" y="2524758"/>
            <a:ext cx="2032000" cy="2628900"/>
          </a:xfrm>
          <a:prstGeom prst="roundRect">
            <a:avLst>
              <a:gd name="adj" fmla="val 6250"/>
            </a:avLst>
          </a:prstGeom>
          <a:solidFill>
            <a:srgbClr val="FBFAFF"/>
          </a:solidFill>
          <a:ln/>
        </p:spPr>
      </p:sp>
      <p:sp>
        <p:nvSpPr>
          <p:cNvPr id="20" name="Shape 18"/>
          <p:cNvSpPr/>
          <p:nvPr/>
        </p:nvSpPr>
        <p:spPr>
          <a:xfrm>
            <a:off x="7213600" y="2524758"/>
            <a:ext cx="2032000" cy="2628900"/>
          </a:xfrm>
          <a:custGeom>
            <a:avLst/>
            <a:gdLst/>
            <a:ahLst/>
            <a:cxnLst/>
            <a:rect l="l" t="t" r="r" b="b"/>
            <a:pathLst>
              <a:path w="2032000" h="2628900">
                <a:moveTo>
                  <a:pt x="0" y="127000"/>
                </a:moveTo>
                <a:lnTo>
                  <a:pt x="0" y="127000"/>
                </a:lnTo>
                <a:arcTo hR="127000" wR="127000" stAng="10800000" swAng="5400000"/>
                <a:lnTo>
                  <a:pt x="1905000" y="0"/>
                </a:lnTo>
                <a:arcTo hR="127000" wR="127000" stAng="16200000" swAng="5400000"/>
                <a:lnTo>
                  <a:pt x="2032000" y="127000"/>
                </a:lnTo>
                <a:arcTo hR="50800" wR="127000" stAng="0" swAng="-5400000"/>
                <a:lnTo>
                  <a:pt x="127000" y="76200"/>
                </a:lnTo>
                <a:arcTo hR="50800" wR="127000" stAng="16200000" swAng="-5400000"/>
                <a:close/>
              </a:path>
            </a:pathLst>
          </a:custGeom>
          <a:solidFill>
            <a:srgbClr val="23D098"/>
          </a:solidFill>
          <a:ln/>
        </p:spPr>
      </p:sp>
      <p:sp>
        <p:nvSpPr>
          <p:cNvPr id="21" name="Text 19"/>
          <p:cNvSpPr/>
          <p:nvPr/>
        </p:nvSpPr>
        <p:spPr>
          <a:xfrm>
            <a:off x="7366000" y="2778758"/>
            <a:ext cx="177901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3A676"/>
                </a:solidFill>
                <a:latin typeface="Fredoka" pitchFamily="34" charset="0"/>
                <a:ea typeface="Fredoka" pitchFamily="34" charset="-122"/>
                <a:cs typeface="Fredoka" pitchFamily="34" charset="-120"/>
              </a:rPr>
              <a:t>Meses 7–9</a:t>
            </a:r>
            <a:endParaRPr lang="en-US" sz="1800" dirty="0"/>
          </a:p>
        </p:txBody>
      </p:sp>
      <p:sp>
        <p:nvSpPr>
          <p:cNvPr id="22" name="Text 20"/>
          <p:cNvSpPr/>
          <p:nvPr/>
        </p:nvSpPr>
        <p:spPr>
          <a:xfrm>
            <a:off x="7366000" y="3175000"/>
            <a:ext cx="177901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1A3D"/>
                </a:solidFill>
                <a:latin typeface="Nunito" pitchFamily="34" charset="0"/>
                <a:ea typeface="Nunito" pitchFamily="34" charset="-122"/>
                <a:cs typeface="Nunito" pitchFamily="34" charset="-120"/>
              </a:rPr>
              <a:t>Modelo propio, sin internet</a:t>
            </a:r>
            <a:endParaRPr lang="en-US" sz="1400" dirty="0"/>
          </a:p>
        </p:txBody>
      </p:sp>
      <p:sp>
        <p:nvSpPr>
          <p:cNvPr id="23" name="Text 21"/>
          <p:cNvSpPr/>
          <p:nvPr/>
        </p:nvSpPr>
        <p:spPr>
          <a:xfrm>
            <a:off x="7366000" y="3695700"/>
            <a:ext cx="177901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Modelo en la estación. Informe de resultados a la Secretaría. Propuesta para los pliegos del contrato PAE 2027.</a:t>
            </a:r>
            <a:endParaRPr lang="en-US" sz="1200" dirty="0"/>
          </a:p>
        </p:txBody>
      </p:sp>
      <p:sp>
        <p:nvSpPr>
          <p:cNvPr id="24" name="Shape 22"/>
          <p:cNvSpPr/>
          <p:nvPr/>
        </p:nvSpPr>
        <p:spPr>
          <a:xfrm>
            <a:off x="9347200" y="2524758"/>
            <a:ext cx="2032000" cy="2628900"/>
          </a:xfrm>
          <a:prstGeom prst="roundRect">
            <a:avLst>
              <a:gd name="adj" fmla="val 6250"/>
            </a:avLst>
          </a:prstGeom>
          <a:solidFill>
            <a:srgbClr val="FBFAFF"/>
          </a:solidFill>
          <a:ln/>
        </p:spPr>
      </p:sp>
      <p:sp>
        <p:nvSpPr>
          <p:cNvPr id="25" name="Shape 23"/>
          <p:cNvSpPr/>
          <p:nvPr/>
        </p:nvSpPr>
        <p:spPr>
          <a:xfrm>
            <a:off x="9347200" y="2524758"/>
            <a:ext cx="2032000" cy="2628900"/>
          </a:xfrm>
          <a:custGeom>
            <a:avLst/>
            <a:gdLst/>
            <a:ahLst/>
            <a:cxnLst/>
            <a:rect l="l" t="t" r="r" b="b"/>
            <a:pathLst>
              <a:path w="2032000" h="2628900">
                <a:moveTo>
                  <a:pt x="0" y="127000"/>
                </a:moveTo>
                <a:lnTo>
                  <a:pt x="0" y="127000"/>
                </a:lnTo>
                <a:arcTo hR="127000" wR="127000" stAng="10800000" swAng="5400000"/>
                <a:lnTo>
                  <a:pt x="1905000" y="0"/>
                </a:lnTo>
                <a:arcTo hR="127000" wR="127000" stAng="16200000" swAng="5400000"/>
                <a:lnTo>
                  <a:pt x="2032000" y="127000"/>
                </a:lnTo>
                <a:arcTo hR="50800" wR="127000" stAng="0" swAng="-5400000"/>
                <a:lnTo>
                  <a:pt x="127000" y="76200"/>
                </a:lnTo>
                <a:arcTo hR="50800" wR="127000" stAng="16200000" swAng="-5400000"/>
                <a:close/>
              </a:path>
            </a:pathLst>
          </a:custGeom>
          <a:solidFill>
            <a:srgbClr val="23D098"/>
          </a:solidFill>
          <a:ln/>
        </p:spPr>
      </p:sp>
      <p:sp>
        <p:nvSpPr>
          <p:cNvPr id="26" name="Text 24"/>
          <p:cNvSpPr/>
          <p:nvPr/>
        </p:nvSpPr>
        <p:spPr>
          <a:xfrm>
            <a:off x="9499600" y="2778758"/>
            <a:ext cx="177901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3A676"/>
                </a:solidFill>
                <a:latin typeface="Fredoka" pitchFamily="34" charset="0"/>
                <a:ea typeface="Fredoka" pitchFamily="34" charset="-122"/>
                <a:cs typeface="Fredoka" pitchFamily="34" charset="-120"/>
              </a:rPr>
              <a:t>Meses 10–12</a:t>
            </a:r>
            <a:endParaRPr lang="en-US" sz="1800" dirty="0"/>
          </a:p>
        </p:txBody>
      </p:sp>
      <p:sp>
        <p:nvSpPr>
          <p:cNvPr id="27" name="Text 25"/>
          <p:cNvSpPr/>
          <p:nvPr/>
        </p:nvSpPr>
        <p:spPr>
          <a:xfrm>
            <a:off x="9499600" y="3175000"/>
            <a:ext cx="1779016"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1A3D"/>
                </a:solidFill>
                <a:latin typeface="Nunito" pitchFamily="34" charset="0"/>
                <a:ea typeface="Nunito" pitchFamily="34" charset="-122"/>
                <a:cs typeface="Nunito" pitchFamily="34" charset="-120"/>
              </a:rPr>
              <a:t>Expansión a 20 sedes</a:t>
            </a:r>
            <a:endParaRPr lang="en-US" sz="1400" dirty="0"/>
          </a:p>
        </p:txBody>
      </p:sp>
      <p:sp>
        <p:nvSpPr>
          <p:cNvPr id="28" name="Text 26"/>
          <p:cNvSpPr/>
          <p:nvPr/>
        </p:nvSpPr>
        <p:spPr>
          <a:xfrm>
            <a:off x="9499600" y="3695700"/>
            <a:ext cx="177901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57A"/>
                </a:solidFill>
                <a:latin typeface="Nunito" pitchFamily="34" charset="0"/>
                <a:ea typeface="Nunito" pitchFamily="34" charset="-122"/>
                <a:cs typeface="Nunito" pitchFamily="34" charset="-120"/>
              </a:rPr>
              <a:t>12.000 raciones diarias. Borrado de fotos del año escolar. Datos agregados abiertos a veedurías.</a:t>
            </a:r>
            <a:endParaRPr lang="en-US" sz="1200" dirty="0"/>
          </a:p>
        </p:txBody>
      </p:sp>
      <p:sp>
        <p:nvSpPr>
          <p:cNvPr id="29" name="Text 27"/>
          <p:cNvSpPr/>
          <p:nvPr/>
        </p:nvSpPr>
        <p:spPr>
          <a:xfrm>
            <a:off x="812800" y="538225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C17C1"/>
                </a:solidFill>
                <a:latin typeface="Nunito" pitchFamily="34" charset="0"/>
                <a:ea typeface="Nunito" pitchFamily="34" charset="-122"/>
                <a:cs typeface="Nunito" pitchFamily="34" charset="-120"/>
              </a:rPr>
              <a:t>Hoy: prototipo funcional en operación, listo para la validación con la nutricionista y la prueba en un comedor real.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C17C1"/>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017000" y="0"/>
            <a:ext cx="3556000" cy="3556000"/>
          </a:xfrm>
          <a:prstGeom prst="rect">
            <a:avLst/>
          </a:prstGeom>
        </p:spPr>
      </p:pic>
      <p:pic>
        <p:nvPicPr>
          <p:cNvPr id="3" name="Image 1" descr="ellipse">    </p:cNvPr>
          <p:cNvPicPr>
            <a:picLocks noChangeAspect="1"/>
          </p:cNvPicPr>
          <p:nvPr/>
        </p:nvPicPr>
        <p:blipFill>
          <a:blip r:embed="rId2"/>
          <a:srcRect l="0" r="0" t="0" b="0"/>
          <a:stretch/>
        </p:blipFill>
        <p:spPr>
          <a:xfrm>
            <a:off x="0" y="4953000"/>
            <a:ext cx="3048000" cy="3048000"/>
          </a:xfrm>
          <a:prstGeom prst="rect">
            <a:avLst/>
          </a:prstGeom>
        </p:spPr>
      </p:pic>
      <p:sp>
        <p:nvSpPr>
          <p:cNvPr id="4"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AC344"/>
                </a:solidFill>
                <a:latin typeface="Nunito" pitchFamily="34" charset="0"/>
                <a:ea typeface="Nunito" pitchFamily="34" charset="-122"/>
                <a:cs typeface="Nunito" pitchFamily="34" charset="-120"/>
              </a:rPr>
              <a:t>CIERRE</a:t>
            </a:r>
            <a:endParaRPr lang="en-US" sz="1400" dirty="0"/>
          </a:p>
        </p:txBody>
      </p:sp>
      <p:sp>
        <p:nvSpPr>
          <p:cNvPr id="5" name="Text 1"/>
          <p:cNvSpPr/>
          <p:nvPr>
            <p:ph type="title"/>
          </p:nvPr>
        </p:nvSpPr>
        <p:spPr>
          <a:xfrm>
            <a:off x="812800" y="1451608"/>
            <a:ext cx="9810750" cy="2768600"/>
          </a:xfrm>
          <a:prstGeom prst="rect">
            <a:avLst/>
          </a:prstGeom>
          <a:noFill/>
          <a:ln/>
        </p:spPr>
        <p:txBody>
          <a:bodyPr wrap="square" lIns="0" tIns="0" rIns="0" bIns="0" rtlCol="0" anchor="t">
            <a:normAutofit/>
          </a:bodyPr>
          <a:lstStyle/>
          <a:p>
            <a:pPr algn="l" indent="0" marL="0">
              <a:lnSpc>
                <a:spcPts val="5400"/>
              </a:lnSpc>
              <a:buNone/>
            </a:pPr>
            <a:r>
              <a:rPr lang="en-US" sz="5000" b="1" i="0" dirty="0">
                <a:solidFill>
                  <a:srgbClr val="FBFAFF"/>
                </a:solidFill>
                <a:latin typeface="Fredoka" pitchFamily="34" charset="0"/>
                <a:ea typeface="Fredoka" pitchFamily="34" charset="-122"/>
                <a:cs typeface="Fredoka" pitchFamily="34" charset="-120"/>
              </a:rPr>
              <a:t>Que la alimentación de 32.000 niños deje de depender de la buena fe y pase a depender de datos.</a:t>
            </a:r>
            <a:endParaRPr lang="en-US" sz="5000" dirty="0"/>
          </a:p>
        </p:txBody>
      </p:sp>
      <p:sp>
        <p:nvSpPr>
          <p:cNvPr id="6" name="Text 2"/>
          <p:cNvSpPr/>
          <p:nvPr/>
        </p:nvSpPr>
        <p:spPr>
          <a:xfrm>
            <a:off x="812800" y="4372608"/>
            <a:ext cx="9810750" cy="3683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E6E2F5"/>
                </a:solidFill>
                <a:latin typeface="Nunito" pitchFamily="34" charset="0"/>
                <a:ea typeface="Nunito" pitchFamily="34" charset="-122"/>
                <a:cs typeface="Nunito" pitchFamily="34" charset="-120"/>
              </a:rPr>
              <a:t>Y que cada uno de ellos, cada día, entienda su plato.</a:t>
            </a:r>
            <a:endParaRPr lang="en-US" sz="2000" dirty="0"/>
          </a:p>
        </p:txBody>
      </p:sp>
      <p:sp>
        <p:nvSpPr>
          <p:cNvPr id="7" name="Shape 3"/>
          <p:cNvSpPr/>
          <p:nvPr/>
        </p:nvSpPr>
        <p:spPr>
          <a:xfrm>
            <a:off x="812800" y="5105400"/>
            <a:ext cx="2260600" cy="939800"/>
          </a:xfrm>
          <a:prstGeom prst="roundRect">
            <a:avLst>
              <a:gd name="adj" fmla="val 13514"/>
            </a:avLst>
          </a:prstGeom>
          <a:solidFill>
            <a:srgbClr val="FBFAFF"/>
          </a:solidFill>
          <a:ln/>
        </p:spPr>
      </p:sp>
      <p:pic>
        <p:nvPicPr>
          <p:cNvPr id="8" name="Image 2" descr="NutriPAE">    </p:cNvPr>
          <p:cNvPicPr>
            <a:picLocks noChangeAspect="1"/>
          </p:cNvPicPr>
          <p:nvPr/>
        </p:nvPicPr>
        <p:blipFill>
          <a:blip r:embed="rId3"/>
          <a:srcRect l="0" r="0" t="-704" b="-704"/>
          <a:stretch/>
        </p:blipFill>
        <p:spPr>
          <a:xfrm>
            <a:off x="990600" y="5232400"/>
            <a:ext cx="1905000" cy="685800"/>
          </a:xfrm>
          <a:prstGeom prst="rect">
            <a:avLst/>
          </a:prstGeom>
        </p:spPr>
      </p:pic>
      <p:sp>
        <p:nvSpPr>
          <p:cNvPr id="9" name="Text 4"/>
          <p:cNvSpPr/>
          <p:nvPr/>
        </p:nvSpPr>
        <p:spPr>
          <a:xfrm>
            <a:off x="3276600" y="5441950"/>
            <a:ext cx="8915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BFAFF"/>
                </a:solidFill>
                <a:latin typeface="Nunito" pitchFamily="34" charset="0"/>
                <a:ea typeface="Nunito" pitchFamily="34" charset="-122"/>
                <a:cs typeface="Nunito" pitchFamily="34" charset="-120"/>
              </a:rPr>
              <a:t>Gravity Mesh · gravitymesh@gmail.com · 322 339 0710 · github.com/K4zzu/Nutripae</a:t>
            </a:r>
            <a:endParaRPr lang="en-US" sz="1500" dirty="0"/>
          </a:p>
        </p:txBody>
      </p:sp>
    </p:spTree>
  </p:cSld>
  <p:clrMapOvr>
    <a:masterClrMapping/>
  </p:clrMapOvr>
</p:sld>
</file>

<file path=ppt/theme/theme1.xml><?xml version="1.0" encoding="utf-8"?>
<a:theme xmlns:a="http://schemas.openxmlformats.org/drawingml/2006/main" name="NutriPAE · Reto Innova 2026">
  <a:themeElements>
    <a:clrScheme name="NutriPAE · Reto Innova 2026">
      <a:dk1>
        <a:srgbClr val="1F1A3D"/>
      </a:dk1>
      <a:lt1>
        <a:srgbClr val="FBFAFF"/>
      </a:lt1>
      <a:dk2>
        <a:srgbClr val="56526E"/>
      </a:dk2>
      <a:lt2>
        <a:srgbClr val="E5E4EC"/>
      </a:lt2>
      <a:accent1>
        <a:srgbClr val="4C17C1"/>
      </a:accent1>
      <a:accent2>
        <a:srgbClr val="13A676"/>
      </a:accent2>
      <a:accent3>
        <a:srgbClr val="FAC344"/>
      </a:accent3>
      <a:accent4>
        <a:srgbClr val="23D098"/>
      </a:accent4>
      <a:accent5>
        <a:srgbClr val="FFF4D6"/>
      </a:accent5>
      <a:accent6>
        <a:srgbClr val="B81F3C"/>
      </a:accent6>
      <a:hlink>
        <a:srgbClr val="0563C1"/>
      </a:hlink>
      <a:folHlink>
        <a:srgbClr val="954F72"/>
      </a:folHlink>
    </a:clrScheme>
    <a:fontScheme name="NutriPAE · Reto Innova 2026">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NutriPAE · Reto Innova 2026</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Copyright 2014 The Nunito Project Authors (https://github.com/googlefonts/nunito)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Fredoka
Copyright 2016 The Fredoka Project Authors (https://github.com/hafontia/Fredoka-One)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2026-10-30T06:19:00Z</dcterms:created>
  <dcterms:modified xsi:type="dcterms:W3CDTF">2026-10-30T06:19:00Z</dcterms:modified>
</cp:coreProperties>
</file>